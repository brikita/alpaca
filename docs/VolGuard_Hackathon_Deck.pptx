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8b2ccf03c94315" /><Relationship Type="http://schemas.openxmlformats.org/officeDocument/2006/relationships/extended-properties" Target="/docProps/app.xml" Id="R83881f139e7d42bd" /><Relationship Type="http://schemas.openxmlformats.org/officeDocument/2006/relationships/officeDocument" Target="/ppt/presentation.xml" Id="Ree27bbf2c4514a26" /></Relationships>
</file>

<file path=ppt/presentation.xml><?xml version="1.0" encoding="utf-8"?>
<p:presentation xmlns:p="http://schemas.openxmlformats.org/presentationml/2006/main">
  <p:sldMasterIdLst>
    <p:sldMasterId xmlns:r="http://schemas.openxmlformats.org/officeDocument/2006/relationships" id="2147483648" r:id="R906f6eed37a84bcb"/>
  </p:sldMasterIdLst>
  <p:notesMasterIdLst>
    <p:notesMasterId xmlns:r="http://schemas.openxmlformats.org/officeDocument/2006/relationships" r:id="R0022493b20014293"/>
  </p:notesMasterIdLst>
  <p:sldIdLst>
    <p:sldId xmlns:r="http://schemas.openxmlformats.org/officeDocument/2006/relationships" id="256" r:id="R91251f6f3cb34891"/>
    <p:sldId xmlns:r="http://schemas.openxmlformats.org/officeDocument/2006/relationships" id="257" r:id="Rea111f5137684d9c"/>
    <p:sldId xmlns:r="http://schemas.openxmlformats.org/officeDocument/2006/relationships" id="258" r:id="R2804b404e37d427e"/>
    <p:sldId xmlns:r="http://schemas.openxmlformats.org/officeDocument/2006/relationships" id="259" r:id="R0d7ba71d13f04795"/>
    <p:sldId xmlns:r="http://schemas.openxmlformats.org/officeDocument/2006/relationships" id="260" r:id="R6646b1b5adea46bf"/>
    <p:sldId xmlns:r="http://schemas.openxmlformats.org/officeDocument/2006/relationships" id="261" r:id="R1dd889aff51142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ddf4979a6b47e4" /><Relationship Type="http://schemas.openxmlformats.org/officeDocument/2006/relationships/slideMaster" Target="/ppt/slideMasters/slideMaster1.xml" Id="R906f6eed37a84bcb" /><Relationship Type="http://schemas.openxmlformats.org/officeDocument/2006/relationships/notesMaster" Target="/ppt/notesMasters/notesMaster1.xml" Id="R0022493b20014293" /><Relationship Type="http://schemas.openxmlformats.org/officeDocument/2006/relationships/presProps" Target="/ppt/presProps.xml" Id="R2ca938534ea248dc" /><Relationship Type="http://schemas.openxmlformats.org/officeDocument/2006/relationships/tableStyles" Target="/ppt/tableStyles.xml" Id="R40fd7bed51a949b7" /><Relationship Type="http://schemas.openxmlformats.org/officeDocument/2006/relationships/slide" Target="/ppt/slides/slide1.xml" Id="R91251f6f3cb34891" /><Relationship Type="http://schemas.openxmlformats.org/officeDocument/2006/relationships/slide" Target="/ppt/slides/slide2.xml" Id="Rea111f5137684d9c" /><Relationship Type="http://schemas.openxmlformats.org/officeDocument/2006/relationships/slide" Target="/ppt/slides/slide3.xml" Id="R2804b404e37d427e" /><Relationship Type="http://schemas.openxmlformats.org/officeDocument/2006/relationships/slide" Target="/ppt/slides/slide4.xml" Id="R0d7ba71d13f04795" /><Relationship Type="http://schemas.openxmlformats.org/officeDocument/2006/relationships/slide" Target="/ppt/slides/slide5.xml" Id="R6646b1b5adea46bf" /><Relationship Type="http://schemas.openxmlformats.org/officeDocument/2006/relationships/slide" Target="/ppt/slides/slide6.xml" Id="R1dd889aff51142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8c4cc71b384f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eaee6734f344a4" /><Relationship Type="http://schemas.openxmlformats.org/officeDocument/2006/relationships/notesMaster" Target="/ppt/notesMasters/notesMaster1.xml" Id="R0fff156453b848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af9b62ac7b48a8" /><Relationship Type="http://schemas.openxmlformats.org/officeDocument/2006/relationships/notesMaster" Target="/ppt/notesMasters/notesMaster1.xml" Id="R9b323450de7148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eb39e8330242a1" /><Relationship Type="http://schemas.openxmlformats.org/officeDocument/2006/relationships/notesMaster" Target="/ppt/notesMasters/notesMaster1.xml" Id="R9e2ef75ced1044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02585bdb784276" /><Relationship Type="http://schemas.openxmlformats.org/officeDocument/2006/relationships/notesMaster" Target="/ppt/notesMasters/notesMaster1.xml" Id="R3d94c4549f4a42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e10ac2a8054703" /><Relationship Type="http://schemas.openxmlformats.org/officeDocument/2006/relationships/notesMaster" Target="/ppt/notesMasters/notesMaster1.xml" Id="Re0bef65f483a4a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ae2de1f8ea4ea7" /><Relationship Type="http://schemas.openxmlformats.org/officeDocument/2006/relationships/notesMaster" Target="/ppt/notesMasters/notesMaster1.xml" Id="R0ff3bf5362ef40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trading bots are optimized to place trades. VolGuard AI is optimized to deserve them. It is an autonomous, risk-governed options desk built on Alpaca paper trading, and every trade—or decision not to trade—leaves an inspectable evidence trail.</a:t>
            </a:r>
          </a:p>
          <a:p xmlns:a="http://schemas.openxmlformats.org/drawingml/2006/main">
            <a:r>
              <a:t/>
            </a:r>
          </a:p>
          <a:p xmlns:a="http://schemas.openxmlformats.org/drawingml/2006/main">
            <a:r>
              <a:t>[Sources]</a:t>
            </a:r>
          </a:p>
          <a:p xmlns:a="http://schemas.openxmlformats.org/drawingml/2006/main">
            <a:r>
              <a:t>- Live VolGuard dashboard capture, 2026-09-02</a:t>
            </a:r>
          </a:p>
          <a:p xmlns:a="http://schemas.openxmlformats.org/drawingml/2006/main">
            <a:r>
              <a:t>- README.md and docs/PRODUCT_GUIDE.md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cycle scans SPY, QQQ, IWM, and GLD. The signal model compares recent realized movement with the live at-the-money options price, then checks the session, history, paired quotes, liquidity, freshness, and edge. If any check fails, VolGuard records an abstention. A five-specialist council now includes Decision Memory, which requires repeated recent open-market agreement before a paper entry can pass.</a:t>
            </a:r>
          </a:p>
          <a:p xmlns:a="http://schemas.openxmlformats.org/drawingml/2006/main">
            <a:r>
              <a:t/>
            </a:r>
          </a:p>
          <a:p xmlns:a="http://schemas.openxmlformats.org/drawingml/2006/main">
            <a:r>
              <a:t>[Sources]</a:t>
            </a:r>
          </a:p>
          <a:p xmlns:a="http://schemas.openxmlformats.org/drawingml/2006/main">
            <a:r>
              <a:t>- docs/PRODUCT_GUIDE.md — option intelligence and Decision Memory</a:t>
            </a:r>
          </a:p>
          <a:p xmlns:a="http://schemas.openxmlformats.org/drawingml/2006/main">
            <a:r>
              <a:t>- lib/option-intelligence.ts — signal checks</a:t>
            </a:r>
          </a:p>
          <a:p xmlns:a="http://schemas.openxmlformats.org/drawingml/2006/main">
            <a:r>
              <a:t>- lib/decision-memory.ts — 60-minute confirmation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still cannot trade. The constructor chooses exact defined-risk legs and prices buys at the ask and sells at the bid. Five transparent specialists test regime, volatility, verified catalysts, recent decision memory, and failure modes. Memory requires two matching open-market observations within sixty minutes and at least sixty percent agreement. Then thirteen deterministic gates enforce paper mode, covered shorts, expiry, quote quality, confidence, drawdown, capacity, and the loss budget.</a:t>
            </a:r>
          </a:p>
          <a:p xmlns:a="http://schemas.openxmlformats.org/drawingml/2006/main">
            <a:r>
              <a:t/>
            </a:r>
          </a:p>
          <a:p xmlns:a="http://schemas.openxmlformats.org/drawingml/2006/main">
            <a:r>
              <a:t>[Sources]</a:t>
            </a:r>
          </a:p>
          <a:p xmlns:a="http://schemas.openxmlformats.org/drawingml/2006/main">
            <a:r>
              <a:t>- lib/risk-governor.ts — thirteen gates</a:t>
            </a:r>
          </a:p>
          <a:p xmlns:a="http://schemas.openxmlformats.org/drawingml/2006/main">
            <a:r>
              <a:t>- lib/domain.ts — policy thresholds</a:t>
            </a:r>
          </a:p>
          <a:p xmlns:a="http://schemas.openxmlformats.org/drawingml/2006/main">
            <a:r>
              <a:t>- lib/agent-council.ts — five specialist votes</a:t>
            </a:r>
          </a:p>
          <a:p xmlns:a="http://schemas.openxmlformats.org/drawingml/2006/main">
            <a:r>
              <a:t>- lib/decision-memory.ts — confirmation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September first, VolGuard selected the September fourth GLD 398–391 bear-put spread. The conservative limit was one dollar eighty-two, maximum loss was one hundred eighty-two dollars, and theoretical maximum expiration profit was five hundred eighteen dollars. The Alpaca dry run validated the atomic order, and the paper account filled at one dollar seventy-nine. This historical fill predates the Decision Memory gate; subsequent entries must also pass memory confirmation.</a:t>
            </a:r>
          </a:p>
          <a:p xmlns:a="http://schemas.openxmlformats.org/drawingml/2006/main">
            <a:r>
              <a:t/>
            </a:r>
          </a:p>
          <a:p xmlns:a="http://schemas.openxmlformats.org/drawingml/2006/main">
            <a:r>
              <a:t>[Sources]</a:t>
            </a:r>
          </a:p>
          <a:p xmlns:a="http://schemas.openxmlformats.org/drawingml/2006/main">
            <a:r>
              <a:t>- docs/BUILD_JOURNAL.md — 2026-09-01 first governed paper execution</a:t>
            </a:r>
          </a:p>
          <a:p xmlns:a="http://schemas.openxmlformats.org/drawingml/2006/main">
            <a:r>
              <a:t>- Append-only paper order and lifecycle events in VolGuard telemetry</a:t>
            </a:r>
          </a:p>
          <a:p xmlns:a="http://schemas.openxmlformats.org/drawingml/2006/main">
            <a:r>
              <a:t>- lib/decision-memory.ts — subsequent-entry confirmation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five minutes during the weekday New York session window, a Cloudflare Worker dispatches one authenticated GitHub Actions paper cycle. Every run reconciles broker state and independently evaluates each open strategy's profit, loss, and time exit. Every other run also refreshes the account, scans for an entry, and requires a matching D1 Decision Memory verdict. If reconciliation, evidence, memory, capacity, or policy fails, the system holds.</a:t>
            </a:r>
          </a:p>
          <a:p xmlns:a="http://schemas.openxmlformats.org/drawingml/2006/main">
            <a:r>
              <a:t/>
            </a:r>
          </a:p>
          <a:p xmlns:a="http://schemas.openxmlformats.org/drawingml/2006/main">
            <a:r>
              <a:t>[Sources]</a:t>
            </a:r>
          </a:p>
          <a:p xmlns:a="http://schemas.openxmlformats.org/drawingml/2006/main">
            <a:r>
              <a:t>- workers/github-scheduler/wrangler.jsonc — session-aware schedule</a:t>
            </a:r>
          </a:p>
          <a:p xmlns:a="http://schemas.openxmlformats.org/drawingml/2006/main">
            <a:r>
              <a:t>- .github/workflows/monitor-paper-position.yml — serialized paper cycle</a:t>
            </a:r>
          </a:p>
          <a:p xmlns:a="http://schemas.openxmlformats.org/drawingml/2006/main">
            <a:r>
              <a:t>- lib/decision-memory.ts — D1-backed confirmation</a:t>
            </a:r>
          </a:p>
          <a:p xmlns:a="http://schemas.openxmlformats.org/drawingml/2006/main">
            <a:r>
              <a:t>- docs/DEPLOYMENT.md — credential and persistence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Journal keeps scans, abstentions, approvals, submissions, fills, holds, exits, and realized results in one append-only review trail. VolGuard is autonomous enough to act, constrained enough to abstain, and transparent enough to improve. That is risk-governed autonomy for options trading.</a:t>
            </a:r>
          </a:p>
          <a:p xmlns:a="http://schemas.openxmlformats.org/drawingml/2006/main">
            <a:r>
              <a:t/>
            </a:r>
          </a:p>
          <a:p xmlns:a="http://schemas.openxmlformats.org/drawingml/2006/main">
            <a:r>
              <a:t>[Sources]</a:t>
            </a:r>
          </a:p>
          <a:p xmlns:a="http://schemas.openxmlformats.org/drawingml/2006/main">
            <a:r>
              <a:t>- docs/PRODUCT_GUIDE.md</a:t>
            </a:r>
          </a:p>
          <a:p xmlns:a="http://schemas.openxmlformats.org/drawingml/2006/main">
            <a:r>
              <a:t>- docs/BUILD_JOURNAL.md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e58aea86bd46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87aebf5fdb423b" /><Relationship Type="http://schemas.openxmlformats.org/officeDocument/2006/relationships/slideLayout" Target="/ppt/slideLayouts/slideLayout1.xml" Id="R6509e8a19fd642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09e8a19fd642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75cd3eb76f4111" /><Relationship Type="http://schemas.openxmlformats.org/officeDocument/2006/relationships/image" Target="/ppt/media/image.jpeg" Id="R17e8c0af39fb42a8" /><Relationship Type="http://schemas.openxmlformats.org/officeDocument/2006/relationships/notesSlide" Target="/ppt/notesSlides/notesSlide1.xml" Id="R1e46da1c87bc4b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6570559024437f" /><Relationship Type="http://schemas.openxmlformats.org/officeDocument/2006/relationships/notesSlide" Target="/ppt/notesSlides/notesSlide2.xml" Id="R8a96e131a8254e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ca23b67f9042a7" /><Relationship Type="http://schemas.openxmlformats.org/officeDocument/2006/relationships/notesSlide" Target="/ppt/notesSlides/notesSlide3.xml" Id="Rbc176db51b8c4f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296d3b08394fe9" /><Relationship Type="http://schemas.openxmlformats.org/officeDocument/2006/relationships/notesSlide" Target="/ppt/notesSlides/notesSlide4.xml" Id="Rf3e649de18314b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b361cc75664e19" /><Relationship Type="http://schemas.openxmlformats.org/officeDocument/2006/relationships/notesSlide" Target="/ppt/notesSlides/notesSlide5.xml" Id="R23a8acddda1141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d689d40eeb4bdf" /><Relationship Type="http://schemas.openxmlformats.org/officeDocument/2006/relationships/notesSlide" Target="/ppt/notesSlides/notesSlide6.xml" Id="R619e83d27a7f42f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ver-kicker">
            <a:extLst xmlns:a="http://schemas.openxmlformats.org/drawingml/2006/main">
              <a:ext uri="{FF2B5EF4-FFF2-40B4-BE49-F238E27FC236}">
                <a16:creationId xmlns:a16="http://schemas.microsoft.com/office/drawing/2014/main" id="{8C909AB2-4175-43ED-880C-14DED484BE4A}"/>
              </a:ext>
            </a:extLst>
          </p:cNvPr>
          <p:cNvSpPr>
            <a:spLocks xmlns:a="http://schemas.openxmlformats.org/drawingml/2006/main" noGrp="1"/>
          </p:cNvSpPr>
          <p:nvPr/>
        </p:nvSpPr>
        <p:spPr>
          <a:xfrm xmlns:a="http://schemas.openxmlformats.org/drawingml/2006/main">
            <a:off x="533400" y="4572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3D8DFF"/>
                </a:solidFill>
              </a:defRPr>
            </a:pPr>
            <a:r>
              <a:rPr sz="1125" b="1">
                <a:solidFill>
                  <a:srgbClr val="3D8DFF"/>
                </a:solidFill>
              </a:rPr>
              <a:t>ALPACA AI TRADING AGENTS HACKATHON</a:t>
            </a:r>
          </a:p>
        </p:txBody>
      </p:sp>
      <p:sp>
        <p:nvSpPr>
          <p:cNvPr id="2" name="cover-title">
            <a:extLst xmlns:a="http://schemas.openxmlformats.org/drawingml/2006/main">
              <a:ext uri="{FF2B5EF4-FFF2-40B4-BE49-F238E27FC236}">
                <a16:creationId xmlns:a16="http://schemas.microsoft.com/office/drawing/2014/main" id="{2BE13234-D8C6-401B-ABF4-411191EDC035}"/>
              </a:ext>
            </a:extLst>
          </p:cNvPr>
          <p:cNvSpPr>
            <a:spLocks xmlns:a="http://schemas.openxmlformats.org/drawingml/2006/main" noGrp="1"/>
          </p:cNvSpPr>
          <p:nvPr/>
        </p:nvSpPr>
        <p:spPr>
          <a:xfrm xmlns:a="http://schemas.openxmlformats.org/drawingml/2006/main">
            <a:off x="533400" y="1352550"/>
            <a:ext cx="5048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5100" b="1">
                <a:solidFill>
                  <a:srgbClr val="0B1220"/>
                </a:solidFill>
              </a:defRPr>
            </a:pPr>
            <a:r>
              <a:rPr sz="5100" b="1">
                <a:solidFill>
                  <a:srgbClr val="0B1220"/>
                </a:solidFill>
              </a:rPr>
              <a:t>VolGuard AI</a:t>
            </a:r>
          </a:p>
        </p:txBody>
      </p:sp>
      <p:sp>
        <p:nvSpPr>
          <p:cNvPr id="3" name="cover-subtitle">
            <a:extLst xmlns:a="http://schemas.openxmlformats.org/drawingml/2006/main">
              <a:ext uri="{FF2B5EF4-FFF2-40B4-BE49-F238E27FC236}">
                <a16:creationId xmlns:a16="http://schemas.microsoft.com/office/drawing/2014/main" id="{BB43EA8D-45E0-4943-B12D-BACA7F3B13BA}"/>
              </a:ext>
            </a:extLst>
          </p:cNvPr>
          <p:cNvSpPr>
            <a:spLocks xmlns:a="http://schemas.openxmlformats.org/drawingml/2006/main" noGrp="1"/>
          </p:cNvSpPr>
          <p:nvPr/>
        </p:nvSpPr>
        <p:spPr>
          <a:xfrm xmlns:a="http://schemas.openxmlformats.org/drawingml/2006/main">
            <a:off x="533400" y="2381250"/>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100">
                <a:solidFill>
                  <a:srgbClr val="596579"/>
                </a:solidFill>
              </a:defRPr>
            </a:pPr>
            <a:r>
              <a:rPr sz="2100">
                <a:solidFill>
                  <a:srgbClr val="596579"/>
                </a:solidFill>
              </a:rPr>
              <a:t>An autonomous, risk-governed options desk that knows when not to trade.</a:t>
            </a:r>
          </a:p>
        </p:txBody>
      </p:sp>
      <p:sp>
        <p:nvSpPr>
          <p:cNvPr id="4" name="cover-proof">
            <a:extLst xmlns:a="http://schemas.openxmlformats.org/drawingml/2006/main">
              <a:ext uri="{FF2B5EF4-FFF2-40B4-BE49-F238E27FC236}">
                <a16:creationId xmlns:a16="http://schemas.microsoft.com/office/drawing/2014/main" id="{2F7BC782-C931-4BFC-BC01-06915AE2A14E}"/>
              </a:ext>
            </a:extLst>
          </p:cNvPr>
          <p:cNvSpPr>
            <a:spLocks xmlns:a="http://schemas.openxmlformats.org/drawingml/2006/main" noGrp="1"/>
          </p:cNvSpPr>
          <p:nvPr/>
        </p:nvSpPr>
        <p:spPr>
          <a:xfrm xmlns:a="http://schemas.openxmlformats.org/drawingml/2006/main">
            <a:off x="533400" y="4762500"/>
            <a:ext cx="519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19A974"/>
                </a:solidFill>
              </a:defRPr>
            </a:pPr>
            <a:r>
              <a:rPr sz="1200" b="1">
                <a:solidFill>
                  <a:srgbClr val="19A974"/>
                </a:solidFill>
              </a:rPr>
              <a:t>REAL ALPACA PAPER FILL  •  13 RISK GATES  •  5-MINUTE MONITOR</a:t>
            </a:r>
          </a:p>
        </p:txBody>
      </p:sp>
      <p:sp>
        <p:nvSpPr>
          <p:cNvPr id="5" name="cover-safety">
            <a:extLst xmlns:a="http://schemas.openxmlformats.org/drawingml/2006/main">
              <a:ext uri="{FF2B5EF4-FFF2-40B4-BE49-F238E27FC236}">
                <a16:creationId xmlns:a16="http://schemas.microsoft.com/office/drawing/2014/main" id="{59816813-4C54-4614-9B87-C522ECD1E5FB}"/>
              </a:ext>
            </a:extLst>
          </p:cNvPr>
          <p:cNvSpPr>
            <a:spLocks xmlns:a="http://schemas.openxmlformats.org/drawingml/2006/main" noGrp="1"/>
          </p:cNvSpPr>
          <p:nvPr/>
        </p:nvSpPr>
        <p:spPr>
          <a:xfrm xmlns:a="http://schemas.openxmlformats.org/drawingml/2006/main">
            <a:off x="533400" y="5581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Educational paper-trading system · No real capital</a:t>
            </a:r>
          </a:p>
        </p:txBody>
      </p:sp>
      <p:sp>
        <p:nvSpPr>
          <p:cNvPr id="6" name="cover-product-frame">
            <a:extLst xmlns:a="http://schemas.openxmlformats.org/drawingml/2006/main">
              <a:ext uri="{FF2B5EF4-FFF2-40B4-BE49-F238E27FC236}">
                <a16:creationId xmlns:a16="http://schemas.microsoft.com/office/drawing/2014/main" id="{367FAE6D-B6B9-49E5-B4BE-B77C10846F7A}"/>
              </a:ext>
            </a:extLst>
          </p:cNvPr>
          <p:cNvSpPr>
            <a:spLocks xmlns:a="http://schemas.openxmlformats.org/drawingml/2006/main" noGrp="1"/>
          </p:cNvSpPr>
          <p:nvPr/>
        </p:nvSpPr>
        <p:spPr>
          <a:xfrm xmlns:a="http://schemas.openxmlformats.org/drawingml/2006/main">
            <a:off x="5981700" y="990600"/>
            <a:ext cx="5676900" cy="4476750"/>
          </a:xfrm>
          <a:prstGeom xmlns:a="http://schemas.openxmlformats.org/drawingml/2006/main" prst="roundRect">
            <a:avLst>
              <a:gd name="adj" fmla="val 2553"/>
            </a:avLst>
          </a:prstGeom>
          <a:solidFill xmlns:a="http://schemas.openxmlformats.org/drawingml/2006/main">
            <a:srgbClr val="EEF2F6"/>
          </a:solidFill>
          <a:ln xmlns:a="http://schemas.openxmlformats.org/drawingml/2006/main" w="9525">
            <a:solidFill>
              <a:srgbClr val="CBD3DF"/>
            </a:solidFill>
            <a:prstDash val="solid"/>
          </a:ln>
        </p:spPr>
      </p:sp>
      <p:sp>
        <p:nvSpPr>
          <p:cNvPr id="7" name="cover-product-label">
            <a:extLst xmlns:a="http://schemas.openxmlformats.org/drawingml/2006/main">
              <a:ext uri="{FF2B5EF4-FFF2-40B4-BE49-F238E27FC236}">
                <a16:creationId xmlns:a16="http://schemas.microsoft.com/office/drawing/2014/main" id="{831DA71F-2FC4-4B11-AFB4-0C60721AF665}"/>
              </a:ext>
            </a:extLst>
          </p:cNvPr>
          <p:cNvSpPr>
            <a:spLocks xmlns:a="http://schemas.openxmlformats.org/drawingml/2006/main" noGrp="1"/>
          </p:cNvSpPr>
          <p:nvPr/>
        </p:nvSpPr>
        <p:spPr>
          <a:xfrm xmlns:a="http://schemas.openxmlformats.org/drawingml/2006/main">
            <a:off x="6191250" y="1200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LIVE PRODUCT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7e8c0af39fb42a8"/>
          <a:stretch xmlns:a="http://schemas.openxmlformats.org/drawingml/2006/main"/>
        </p:blipFill>
        <p:spPr>
          <a:xfrm xmlns:a="http://schemas.openxmlformats.org/drawingml/2006/main">
            <a:off x="6195483" y="1657350"/>
            <a:ext cx="5249333" cy="2952750"/>
          </a:xfrm>
          <a:prstGeom xmlns:a="http://schemas.openxmlformats.org/drawingml/2006/main" prst="roundRect">
            <a:avLst>
              <a:gd name="adj" fmla="val 3871"/>
            </a:avLst>
          </a:prstGeom>
        </p:spPr>
      </p:pic>
      <p:sp>
        <p:nvSpPr>
          <p:cNvPr id="9" name="cover-product-caption">
            <a:extLst xmlns:a="http://schemas.openxmlformats.org/drawingml/2006/main">
              <a:ext uri="{FF2B5EF4-FFF2-40B4-BE49-F238E27FC236}">
                <a16:creationId xmlns:a16="http://schemas.microsoft.com/office/drawing/2014/main" id="{4670156F-8D34-422C-94A0-738B04B03A1B}"/>
              </a:ext>
            </a:extLst>
          </p:cNvPr>
          <p:cNvSpPr>
            <a:spLocks xmlns:a="http://schemas.openxmlformats.org/drawingml/2006/main" noGrp="1"/>
          </p:cNvSpPr>
          <p:nvPr/>
        </p:nvSpPr>
        <p:spPr>
          <a:xfrm xmlns:a="http://schemas.openxmlformats.org/drawingml/2006/main">
            <a:off x="6191250" y="4876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Sanitized telemetry · responsive dashboard</a:t>
            </a:r>
          </a:p>
        </p:txBody>
      </p:sp>
    </p:spTree>
    <p:extLst>
      <p:ext uri="{BB962C8B-B14F-4D97-AF65-F5344CB8AC3E}">
        <p14:creationId xmlns:p14="http://schemas.microsoft.com/office/powerpoint/2010/main" val="10166519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lide-2-eyebrow">
            <a:extLst xmlns:a="http://schemas.openxmlformats.org/drawingml/2006/main">
              <a:ext uri="{FF2B5EF4-FFF2-40B4-BE49-F238E27FC236}">
                <a16:creationId xmlns:a16="http://schemas.microsoft.com/office/drawing/2014/main" id="{3FE8464C-518C-43A4-A0AC-285958B36A9A}"/>
              </a:ext>
            </a:extLst>
          </p:cNvPr>
          <p:cNvSpPr>
            <a:spLocks xmlns:a="http://schemas.openxmlformats.org/drawingml/2006/main" noGrp="1"/>
          </p:cNvSpPr>
          <p:nvPr/>
        </p:nvSpPr>
        <p:spPr>
          <a:xfrm xmlns:a="http://schemas.openxmlformats.org/drawingml/2006/main">
            <a:off x="533400" y="323850"/>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VOLGUARD AI  /  ALPACA PAPER OPTIONS</a:t>
            </a:r>
          </a:p>
        </p:txBody>
      </p:sp>
      <p:sp>
        <p:nvSpPr>
          <p:cNvPr id="2" name="slide-2-title">
            <a:extLst xmlns:a="http://schemas.openxmlformats.org/drawingml/2006/main">
              <a:ext uri="{FF2B5EF4-FFF2-40B4-BE49-F238E27FC236}">
                <a16:creationId xmlns:a16="http://schemas.microsoft.com/office/drawing/2014/main" id="{72AAB4B6-EB71-4456-8462-BACF3BF6775C}"/>
              </a:ext>
            </a:extLst>
          </p:cNvPr>
          <p:cNvSpPr>
            <a:spLocks xmlns:a="http://schemas.openxmlformats.org/drawingml/2006/main" noGrp="1"/>
          </p:cNvSpPr>
          <p:nvPr/>
        </p:nvSpPr>
        <p:spPr>
          <a:xfrm xmlns:a="http://schemas.openxmlformats.org/drawingml/2006/main">
            <a:off x="533400" y="68580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150" b="1">
                <a:solidFill>
                  <a:srgbClr val="0B1220"/>
                </a:solidFill>
              </a:defRPr>
            </a:pPr>
            <a:r>
              <a:rPr sz="3150" b="1">
                <a:solidFill>
                  <a:srgbClr val="0B1220"/>
                </a:solidFill>
              </a:rPr>
              <a:t>The agent earns permission to trade</a:t>
            </a:r>
          </a:p>
        </p:txBody>
      </p:sp>
      <p:sp>
        <p:nvSpPr>
          <p:cNvPr id="3" name="slide-2-rule">
            <a:extLst xmlns:a="http://schemas.openxmlformats.org/drawingml/2006/main">
              <a:ext uri="{FF2B5EF4-FFF2-40B4-BE49-F238E27FC236}">
                <a16:creationId xmlns:a16="http://schemas.microsoft.com/office/drawing/2014/main" id="{DCC9B832-3663-4002-B6D5-D75DEEC8D10E}"/>
              </a:ext>
            </a:extLst>
          </p:cNvPr>
          <p:cNvSpPr>
            <a:spLocks xmlns:a="http://schemas.openxmlformats.org/drawingml/2006/main" noGrp="1"/>
          </p:cNvSpPr>
          <p:nvPr/>
        </p:nvSpPr>
        <p:spPr>
          <a:xfrm xmlns:a="http://schemas.openxmlformats.org/drawingml/2006/main">
            <a:off x="533400" y="6286500"/>
            <a:ext cx="11125200" cy="0"/>
          </a:xfrm>
          <a:prstGeom xmlns:a="http://schemas.openxmlformats.org/drawingml/2006/main" prst="line">
            <a:avLst/>
          </a:prstGeom>
          <a:noFill xmlns:a="http://schemas.openxmlformats.org/drawingml/2006/main"/>
          <a:ln xmlns:a="http://schemas.openxmlformats.org/drawingml/2006/main" w="9525">
            <a:solidFill>
              <a:srgbClr val="CBD3DF"/>
            </a:solidFill>
            <a:prstDash val="solid"/>
          </a:ln>
        </p:spPr>
      </p:sp>
      <p:sp>
        <p:nvSpPr>
          <p:cNvPr id="4" name="slide-2-number">
            <a:extLst xmlns:a="http://schemas.openxmlformats.org/drawingml/2006/main">
              <a:ext uri="{FF2B5EF4-FFF2-40B4-BE49-F238E27FC236}">
                <a16:creationId xmlns:a16="http://schemas.microsoft.com/office/drawing/2014/main" id="{2562FB48-64B4-4730-8FE2-29FFFF355AE8}"/>
              </a:ext>
            </a:extLst>
          </p:cNvPr>
          <p:cNvSpPr>
            <a:spLocks xmlns:a="http://schemas.openxmlformats.org/drawingml/2006/main" noGrp="1"/>
          </p:cNvSpPr>
          <p:nvPr/>
        </p:nvSpPr>
        <p:spPr>
          <a:xfrm xmlns:a="http://schemas.openxmlformats.org/drawingml/2006/main">
            <a:off x="11144250" y="63817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a:solidFill>
                  <a:srgbClr val="596579"/>
                </a:solidFill>
              </a:defRPr>
            </a:pPr>
            <a:r>
              <a:rPr sz="900">
                <a:solidFill>
                  <a:srgbClr val="596579"/>
                </a:solidFill>
              </a:rPr>
              <a:t>02</a:t>
            </a:r>
          </a:p>
        </p:txBody>
      </p:sp>
      <p:sp>
        <p:nvSpPr>
          <p:cNvPr id="5" name="flow-arrow-1">
            <a:extLst xmlns:a="http://schemas.openxmlformats.org/drawingml/2006/main">
              <a:ext uri="{FF2B5EF4-FFF2-40B4-BE49-F238E27FC236}">
                <a16:creationId xmlns:a16="http://schemas.microsoft.com/office/drawing/2014/main" id="{636F9359-6D0C-4B5E-9EF0-CAF6A3329725}"/>
              </a:ext>
            </a:extLst>
          </p:cNvPr>
          <p:cNvSpPr>
            <a:spLocks xmlns:a="http://schemas.openxmlformats.org/drawingml/2006/main" noGrp="1"/>
          </p:cNvSpPr>
          <p:nvPr/>
        </p:nvSpPr>
        <p:spPr>
          <a:xfrm xmlns:a="http://schemas.openxmlformats.org/drawingml/2006/main">
            <a:off x="1990725" y="2790825"/>
            <a:ext cx="400050" cy="266700"/>
          </a:xfrm>
          <a:prstGeom xmlns:a="http://schemas.openxmlformats.org/drawingml/2006/main" prst="rightArrow">
            <a:avLst/>
          </a:prstGeom>
          <a:solidFill xmlns:a="http://schemas.openxmlformats.org/drawingml/2006/main">
            <a:srgbClr val="D9EDFF"/>
          </a:solidFill>
          <a:ln xmlns:a="http://schemas.openxmlformats.org/drawingml/2006/main" w="0">
            <a:solidFill>
              <a:srgbClr val="D9EDFF"/>
            </a:solidFill>
            <a:prstDash val="solid"/>
          </a:ln>
        </p:spPr>
      </p:sp>
      <p:sp>
        <p:nvSpPr>
          <p:cNvPr id="6" name="flow-arrow-2">
            <a:extLst xmlns:a="http://schemas.openxmlformats.org/drawingml/2006/main">
              <a:ext uri="{FF2B5EF4-FFF2-40B4-BE49-F238E27FC236}">
                <a16:creationId xmlns:a16="http://schemas.microsoft.com/office/drawing/2014/main" id="{6BDDE719-CFCD-4895-BB65-91613169B319}"/>
              </a:ext>
            </a:extLst>
          </p:cNvPr>
          <p:cNvSpPr>
            <a:spLocks xmlns:a="http://schemas.openxmlformats.org/drawingml/2006/main" noGrp="1"/>
          </p:cNvSpPr>
          <p:nvPr/>
        </p:nvSpPr>
        <p:spPr>
          <a:xfrm xmlns:a="http://schemas.openxmlformats.org/drawingml/2006/main">
            <a:off x="3838575" y="2790825"/>
            <a:ext cx="400050" cy="266700"/>
          </a:xfrm>
          <a:prstGeom xmlns:a="http://schemas.openxmlformats.org/drawingml/2006/main" prst="rightArrow">
            <a:avLst/>
          </a:prstGeom>
          <a:solidFill xmlns:a="http://schemas.openxmlformats.org/drawingml/2006/main">
            <a:srgbClr val="D9EDFF"/>
          </a:solidFill>
          <a:ln xmlns:a="http://schemas.openxmlformats.org/drawingml/2006/main" w="0">
            <a:solidFill>
              <a:srgbClr val="D9EDFF"/>
            </a:solidFill>
            <a:prstDash val="solid"/>
          </a:ln>
        </p:spPr>
      </p:sp>
      <p:sp>
        <p:nvSpPr>
          <p:cNvPr id="7" name="flow-arrow-3">
            <a:extLst xmlns:a="http://schemas.openxmlformats.org/drawingml/2006/main">
              <a:ext uri="{FF2B5EF4-FFF2-40B4-BE49-F238E27FC236}">
                <a16:creationId xmlns:a16="http://schemas.microsoft.com/office/drawing/2014/main" id="{C88E1125-44F3-4942-AB14-F2E410E5ED95}"/>
              </a:ext>
            </a:extLst>
          </p:cNvPr>
          <p:cNvSpPr>
            <a:spLocks xmlns:a="http://schemas.openxmlformats.org/drawingml/2006/main" noGrp="1"/>
          </p:cNvSpPr>
          <p:nvPr/>
        </p:nvSpPr>
        <p:spPr>
          <a:xfrm xmlns:a="http://schemas.openxmlformats.org/drawingml/2006/main">
            <a:off x="5686425" y="2790825"/>
            <a:ext cx="400050" cy="266700"/>
          </a:xfrm>
          <a:prstGeom xmlns:a="http://schemas.openxmlformats.org/drawingml/2006/main" prst="rightArrow">
            <a:avLst/>
          </a:prstGeom>
          <a:solidFill xmlns:a="http://schemas.openxmlformats.org/drawingml/2006/main">
            <a:srgbClr val="D9EDFF"/>
          </a:solidFill>
          <a:ln xmlns:a="http://schemas.openxmlformats.org/drawingml/2006/main" w="0">
            <a:solidFill>
              <a:srgbClr val="D9EDFF"/>
            </a:solidFill>
            <a:prstDash val="solid"/>
          </a:ln>
        </p:spPr>
      </p:sp>
      <p:sp>
        <p:nvSpPr>
          <p:cNvPr id="8" name="flow-arrow-4">
            <a:extLst xmlns:a="http://schemas.openxmlformats.org/drawingml/2006/main">
              <a:ext uri="{FF2B5EF4-FFF2-40B4-BE49-F238E27FC236}">
                <a16:creationId xmlns:a16="http://schemas.microsoft.com/office/drawing/2014/main" id="{07757110-4668-4009-B5CC-F8A672792C0F}"/>
              </a:ext>
            </a:extLst>
          </p:cNvPr>
          <p:cNvSpPr>
            <a:spLocks xmlns:a="http://schemas.openxmlformats.org/drawingml/2006/main" noGrp="1"/>
          </p:cNvSpPr>
          <p:nvPr/>
        </p:nvSpPr>
        <p:spPr>
          <a:xfrm xmlns:a="http://schemas.openxmlformats.org/drawingml/2006/main">
            <a:off x="7534275" y="2790825"/>
            <a:ext cx="400050" cy="266700"/>
          </a:xfrm>
          <a:prstGeom xmlns:a="http://schemas.openxmlformats.org/drawingml/2006/main" prst="rightArrow">
            <a:avLst/>
          </a:prstGeom>
          <a:solidFill xmlns:a="http://schemas.openxmlformats.org/drawingml/2006/main">
            <a:srgbClr val="D9EDFF"/>
          </a:solidFill>
          <a:ln xmlns:a="http://schemas.openxmlformats.org/drawingml/2006/main" w="0">
            <a:solidFill>
              <a:srgbClr val="D9EDFF"/>
            </a:solidFill>
            <a:prstDash val="solid"/>
          </a:ln>
        </p:spPr>
      </p:sp>
      <p:sp>
        <p:nvSpPr>
          <p:cNvPr id="9" name="flow-arrow-5">
            <a:extLst xmlns:a="http://schemas.openxmlformats.org/drawingml/2006/main">
              <a:ext uri="{FF2B5EF4-FFF2-40B4-BE49-F238E27FC236}">
                <a16:creationId xmlns:a16="http://schemas.microsoft.com/office/drawing/2014/main" id="{98B52F93-A433-4018-A3B1-674AA2D3CA5E}"/>
              </a:ext>
            </a:extLst>
          </p:cNvPr>
          <p:cNvSpPr>
            <a:spLocks xmlns:a="http://schemas.openxmlformats.org/drawingml/2006/main" noGrp="1"/>
          </p:cNvSpPr>
          <p:nvPr/>
        </p:nvSpPr>
        <p:spPr>
          <a:xfrm xmlns:a="http://schemas.openxmlformats.org/drawingml/2006/main">
            <a:off x="9382125" y="2790825"/>
            <a:ext cx="400050" cy="266700"/>
          </a:xfrm>
          <a:prstGeom xmlns:a="http://schemas.openxmlformats.org/drawingml/2006/main" prst="rightArrow">
            <a:avLst/>
          </a:prstGeom>
          <a:solidFill xmlns:a="http://schemas.openxmlformats.org/drawingml/2006/main">
            <a:srgbClr val="D9EDFF"/>
          </a:solidFill>
          <a:ln xmlns:a="http://schemas.openxmlformats.org/drawingml/2006/main" w="0">
            <a:solidFill>
              <a:srgbClr val="D9EDFF"/>
            </a:solidFill>
            <a:prstDash val="solid"/>
          </a:ln>
        </p:spPr>
      </p:sp>
      <p:sp>
        <p:nvSpPr>
          <p:cNvPr id="10" name="flow-node-1">
            <a:extLst xmlns:a="http://schemas.openxmlformats.org/drawingml/2006/main">
              <a:ext uri="{FF2B5EF4-FFF2-40B4-BE49-F238E27FC236}">
                <a16:creationId xmlns:a16="http://schemas.microsoft.com/office/drawing/2014/main" id="{6C77D641-D9FD-444F-B31C-AB5E34D5DE93}"/>
              </a:ext>
            </a:extLst>
          </p:cNvPr>
          <p:cNvSpPr>
            <a:spLocks xmlns:a="http://schemas.openxmlformats.org/drawingml/2006/main" noGrp="1"/>
          </p:cNvSpPr>
          <p:nvPr/>
        </p:nvSpPr>
        <p:spPr>
          <a:xfrm xmlns:a="http://schemas.openxmlformats.org/drawingml/2006/main">
            <a:off x="533400" y="2095500"/>
            <a:ext cx="1524000" cy="1714500"/>
          </a:xfrm>
          <a:prstGeom xmlns:a="http://schemas.openxmlformats.org/drawingml/2006/main" prst="roundRect">
            <a:avLst>
              <a:gd name="adj" fmla="val 7500"/>
            </a:avLst>
          </a:prstGeom>
          <a:solidFill xmlns:a="http://schemas.openxmlformats.org/drawingml/2006/main">
            <a:srgbClr val="EEF2F6"/>
          </a:solidFill>
          <a:ln xmlns:a="http://schemas.openxmlformats.org/drawingml/2006/main" w="9525">
            <a:solidFill>
              <a:srgbClr val="CBD3DF"/>
            </a:solidFill>
            <a:prstDash val="solid"/>
          </a:ln>
        </p:spPr>
      </p:sp>
      <p:sp>
        <p:nvSpPr>
          <p:cNvPr id="11" name="flow-num-1">
            <a:extLst xmlns:a="http://schemas.openxmlformats.org/drawingml/2006/main">
              <a:ext uri="{FF2B5EF4-FFF2-40B4-BE49-F238E27FC236}">
                <a16:creationId xmlns:a16="http://schemas.microsoft.com/office/drawing/2014/main" id="{A02AC703-6847-42D3-B461-E7817CB1BB75}"/>
              </a:ext>
            </a:extLst>
          </p:cNvPr>
          <p:cNvSpPr>
            <a:spLocks xmlns:a="http://schemas.openxmlformats.org/drawingml/2006/main" noGrp="1"/>
          </p:cNvSpPr>
          <p:nvPr/>
        </p:nvSpPr>
        <p:spPr>
          <a:xfrm xmlns:a="http://schemas.openxmlformats.org/drawingml/2006/main">
            <a:off x="704850" y="2266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3D8DFF"/>
                </a:solidFill>
              </a:defRPr>
            </a:pPr>
            <a:r>
              <a:rPr sz="1200" b="1">
                <a:solidFill>
                  <a:srgbClr val="3D8DFF"/>
                </a:solidFill>
              </a:rPr>
              <a:t>01</a:t>
            </a:r>
          </a:p>
        </p:txBody>
      </p:sp>
      <p:sp>
        <p:nvSpPr>
          <p:cNvPr id="12" name="flow-label-1">
            <a:extLst xmlns:a="http://schemas.openxmlformats.org/drawingml/2006/main">
              <a:ext uri="{FF2B5EF4-FFF2-40B4-BE49-F238E27FC236}">
                <a16:creationId xmlns:a16="http://schemas.microsoft.com/office/drawing/2014/main" id="{187EA455-C12C-48D4-B729-72338EB46DE9}"/>
              </a:ext>
            </a:extLst>
          </p:cNvPr>
          <p:cNvSpPr>
            <a:spLocks xmlns:a="http://schemas.openxmlformats.org/drawingml/2006/main" noGrp="1"/>
          </p:cNvSpPr>
          <p:nvPr/>
        </p:nvSpPr>
        <p:spPr>
          <a:xfrm xmlns:a="http://schemas.openxmlformats.org/drawingml/2006/main">
            <a:off x="704850" y="2647950"/>
            <a:ext cx="1181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0B1220"/>
                </a:solidFill>
              </a:defRPr>
            </a:pPr>
            <a:r>
              <a:rPr sz="1725" b="1">
                <a:solidFill>
                  <a:srgbClr val="0B1220"/>
                </a:solidFill>
              </a:rPr>
              <a:t>Snapshot</a:t>
            </a:r>
          </a:p>
        </p:txBody>
      </p:sp>
      <p:sp>
        <p:nvSpPr>
          <p:cNvPr id="13" name="flow-detail-1">
            <a:extLst xmlns:a="http://schemas.openxmlformats.org/drawingml/2006/main">
              <a:ext uri="{FF2B5EF4-FFF2-40B4-BE49-F238E27FC236}">
                <a16:creationId xmlns:a16="http://schemas.microsoft.com/office/drawing/2014/main" id="{8427DF7C-CD28-43AE-9CFE-E0955E66FC5D}"/>
              </a:ext>
            </a:extLst>
          </p:cNvPr>
          <p:cNvSpPr>
            <a:spLocks xmlns:a="http://schemas.openxmlformats.org/drawingml/2006/main" noGrp="1"/>
          </p:cNvSpPr>
          <p:nvPr/>
        </p:nvSpPr>
        <p:spPr>
          <a:xfrm xmlns:a="http://schemas.openxmlformats.org/drawingml/2006/main">
            <a:off x="704850" y="3124200"/>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Paper account</a:t>
            </a:r>
          </a:p>
          <a:p xmlns:a="http://schemas.openxmlformats.org/drawingml/2006/main">
            <a:pPr>
              <a:buNone/>
              <a:defRPr sz="1200">
                <a:solidFill>
                  <a:srgbClr val="596579"/>
                </a:solidFill>
              </a:defRPr>
            </a:pPr>
            <a:r>
              <a:rPr sz="1200">
                <a:solidFill>
                  <a:srgbClr val="596579"/>
                </a:solidFill>
              </a:rPr>
              <a:t>and market clock</a:t>
            </a:r>
          </a:p>
        </p:txBody>
      </p:sp>
      <p:sp>
        <p:nvSpPr>
          <p:cNvPr id="14" name="flow-node-2">
            <a:extLst xmlns:a="http://schemas.openxmlformats.org/drawingml/2006/main">
              <a:ext uri="{FF2B5EF4-FFF2-40B4-BE49-F238E27FC236}">
                <a16:creationId xmlns:a16="http://schemas.microsoft.com/office/drawing/2014/main" id="{6E9CB3BC-EC1B-4490-8C83-CBFEACFF5178}"/>
              </a:ext>
            </a:extLst>
          </p:cNvPr>
          <p:cNvSpPr>
            <a:spLocks xmlns:a="http://schemas.openxmlformats.org/drawingml/2006/main" noGrp="1"/>
          </p:cNvSpPr>
          <p:nvPr/>
        </p:nvSpPr>
        <p:spPr>
          <a:xfrm xmlns:a="http://schemas.openxmlformats.org/drawingml/2006/main">
            <a:off x="2381250" y="2095500"/>
            <a:ext cx="1524000" cy="1714500"/>
          </a:xfrm>
          <a:prstGeom xmlns:a="http://schemas.openxmlformats.org/drawingml/2006/main" prst="roundRect">
            <a:avLst>
              <a:gd name="adj" fmla="val 7500"/>
            </a:avLst>
          </a:prstGeom>
          <a:solidFill xmlns:a="http://schemas.openxmlformats.org/drawingml/2006/main">
            <a:srgbClr val="EEF2F6"/>
          </a:solidFill>
          <a:ln xmlns:a="http://schemas.openxmlformats.org/drawingml/2006/main" w="9525">
            <a:solidFill>
              <a:srgbClr val="CBD3DF"/>
            </a:solidFill>
            <a:prstDash val="solid"/>
          </a:ln>
        </p:spPr>
      </p:sp>
      <p:sp>
        <p:nvSpPr>
          <p:cNvPr id="15" name="flow-num-2">
            <a:extLst xmlns:a="http://schemas.openxmlformats.org/drawingml/2006/main">
              <a:ext uri="{FF2B5EF4-FFF2-40B4-BE49-F238E27FC236}">
                <a16:creationId xmlns:a16="http://schemas.microsoft.com/office/drawing/2014/main" id="{BD585E3A-FEB0-40A6-9652-39E088E31854}"/>
              </a:ext>
            </a:extLst>
          </p:cNvPr>
          <p:cNvSpPr>
            <a:spLocks xmlns:a="http://schemas.openxmlformats.org/drawingml/2006/main" noGrp="1"/>
          </p:cNvSpPr>
          <p:nvPr/>
        </p:nvSpPr>
        <p:spPr>
          <a:xfrm xmlns:a="http://schemas.openxmlformats.org/drawingml/2006/main">
            <a:off x="2552700" y="2266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3D8DFF"/>
                </a:solidFill>
              </a:defRPr>
            </a:pPr>
            <a:r>
              <a:rPr sz="1200" b="1">
                <a:solidFill>
                  <a:srgbClr val="3D8DFF"/>
                </a:solidFill>
              </a:rPr>
              <a:t>02</a:t>
            </a:r>
          </a:p>
        </p:txBody>
      </p:sp>
      <p:sp>
        <p:nvSpPr>
          <p:cNvPr id="16" name="flow-label-2">
            <a:extLst xmlns:a="http://schemas.openxmlformats.org/drawingml/2006/main">
              <a:ext uri="{FF2B5EF4-FFF2-40B4-BE49-F238E27FC236}">
                <a16:creationId xmlns:a16="http://schemas.microsoft.com/office/drawing/2014/main" id="{E3A8EA49-A598-4585-96EE-157A4F8916DE}"/>
              </a:ext>
            </a:extLst>
          </p:cNvPr>
          <p:cNvSpPr>
            <a:spLocks xmlns:a="http://schemas.openxmlformats.org/drawingml/2006/main" noGrp="1"/>
          </p:cNvSpPr>
          <p:nvPr/>
        </p:nvSpPr>
        <p:spPr>
          <a:xfrm xmlns:a="http://schemas.openxmlformats.org/drawingml/2006/main">
            <a:off x="2552700" y="2647950"/>
            <a:ext cx="1181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0B1220"/>
                </a:solidFill>
              </a:defRPr>
            </a:pPr>
            <a:r>
              <a:rPr sz="1725" b="1">
                <a:solidFill>
                  <a:srgbClr val="0B1220"/>
                </a:solidFill>
              </a:rPr>
              <a:t>Scan</a:t>
            </a:r>
          </a:p>
        </p:txBody>
      </p:sp>
      <p:sp>
        <p:nvSpPr>
          <p:cNvPr id="17" name="flow-detail-2">
            <a:extLst xmlns:a="http://schemas.openxmlformats.org/drawingml/2006/main">
              <a:ext uri="{FF2B5EF4-FFF2-40B4-BE49-F238E27FC236}">
                <a16:creationId xmlns:a16="http://schemas.microsoft.com/office/drawing/2014/main" id="{B3BD314D-E729-42D8-A810-91641EC56DC4}"/>
              </a:ext>
            </a:extLst>
          </p:cNvPr>
          <p:cNvSpPr>
            <a:spLocks xmlns:a="http://schemas.openxmlformats.org/drawingml/2006/main" noGrp="1"/>
          </p:cNvSpPr>
          <p:nvPr/>
        </p:nvSpPr>
        <p:spPr>
          <a:xfrm xmlns:a="http://schemas.openxmlformats.org/drawingml/2006/main">
            <a:off x="2552700" y="3124200"/>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SPY · QQQ</a:t>
            </a:r>
          </a:p>
          <a:p xmlns:a="http://schemas.openxmlformats.org/drawingml/2006/main">
            <a:pPr>
              <a:buNone/>
              <a:defRPr sz="1200">
                <a:solidFill>
                  <a:srgbClr val="596579"/>
                </a:solidFill>
              </a:defRPr>
            </a:pPr>
            <a:r>
              <a:rPr sz="1200">
                <a:solidFill>
                  <a:srgbClr val="596579"/>
                </a:solidFill>
              </a:rPr>
              <a:t>IWM · GLD</a:t>
            </a:r>
          </a:p>
        </p:txBody>
      </p:sp>
      <p:sp>
        <p:nvSpPr>
          <p:cNvPr id="18" name="flow-node-3">
            <a:extLst xmlns:a="http://schemas.openxmlformats.org/drawingml/2006/main">
              <a:ext uri="{FF2B5EF4-FFF2-40B4-BE49-F238E27FC236}">
                <a16:creationId xmlns:a16="http://schemas.microsoft.com/office/drawing/2014/main" id="{3B01B8B9-13F6-4C79-9BAA-7A879F52A850}"/>
              </a:ext>
            </a:extLst>
          </p:cNvPr>
          <p:cNvSpPr>
            <a:spLocks xmlns:a="http://schemas.openxmlformats.org/drawingml/2006/main" noGrp="1"/>
          </p:cNvSpPr>
          <p:nvPr/>
        </p:nvSpPr>
        <p:spPr>
          <a:xfrm xmlns:a="http://schemas.openxmlformats.org/drawingml/2006/main">
            <a:off x="4229100" y="2095500"/>
            <a:ext cx="1524000" cy="1714500"/>
          </a:xfrm>
          <a:prstGeom xmlns:a="http://schemas.openxmlformats.org/drawingml/2006/main" prst="roundRect">
            <a:avLst>
              <a:gd name="adj" fmla="val 7500"/>
            </a:avLst>
          </a:prstGeom>
          <a:solidFill xmlns:a="http://schemas.openxmlformats.org/drawingml/2006/main">
            <a:srgbClr val="EEF2F6"/>
          </a:solidFill>
          <a:ln xmlns:a="http://schemas.openxmlformats.org/drawingml/2006/main" w="9525">
            <a:solidFill>
              <a:srgbClr val="CBD3DF"/>
            </a:solidFill>
            <a:prstDash val="solid"/>
          </a:ln>
        </p:spPr>
      </p:sp>
      <p:sp>
        <p:nvSpPr>
          <p:cNvPr id="19" name="flow-num-3">
            <a:extLst xmlns:a="http://schemas.openxmlformats.org/drawingml/2006/main">
              <a:ext uri="{FF2B5EF4-FFF2-40B4-BE49-F238E27FC236}">
                <a16:creationId xmlns:a16="http://schemas.microsoft.com/office/drawing/2014/main" id="{4C393931-C4A4-404F-84A0-6DC1739BE1E3}"/>
              </a:ext>
            </a:extLst>
          </p:cNvPr>
          <p:cNvSpPr>
            <a:spLocks xmlns:a="http://schemas.openxmlformats.org/drawingml/2006/main" noGrp="1"/>
          </p:cNvSpPr>
          <p:nvPr/>
        </p:nvSpPr>
        <p:spPr>
          <a:xfrm xmlns:a="http://schemas.openxmlformats.org/drawingml/2006/main">
            <a:off x="4400550" y="2266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3D8DFF"/>
                </a:solidFill>
              </a:defRPr>
            </a:pPr>
            <a:r>
              <a:rPr sz="1200" b="1">
                <a:solidFill>
                  <a:srgbClr val="3D8DFF"/>
                </a:solidFill>
              </a:rPr>
              <a:t>03</a:t>
            </a:r>
          </a:p>
        </p:txBody>
      </p:sp>
      <p:sp>
        <p:nvSpPr>
          <p:cNvPr id="20" name="flow-label-3">
            <a:extLst xmlns:a="http://schemas.openxmlformats.org/drawingml/2006/main">
              <a:ext uri="{FF2B5EF4-FFF2-40B4-BE49-F238E27FC236}">
                <a16:creationId xmlns:a16="http://schemas.microsoft.com/office/drawing/2014/main" id="{A019CDA7-541E-45D9-BF40-7B404B49A69B}"/>
              </a:ext>
            </a:extLst>
          </p:cNvPr>
          <p:cNvSpPr>
            <a:spLocks xmlns:a="http://schemas.openxmlformats.org/drawingml/2006/main" noGrp="1"/>
          </p:cNvSpPr>
          <p:nvPr/>
        </p:nvSpPr>
        <p:spPr>
          <a:xfrm xmlns:a="http://schemas.openxmlformats.org/drawingml/2006/main">
            <a:off x="4400550" y="2647950"/>
            <a:ext cx="1181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0B1220"/>
                </a:solidFill>
              </a:defRPr>
            </a:pPr>
            <a:r>
              <a:rPr sz="1725" b="1">
                <a:solidFill>
                  <a:srgbClr val="0B1220"/>
                </a:solidFill>
              </a:rPr>
              <a:t>Signal</a:t>
            </a:r>
          </a:p>
        </p:txBody>
      </p:sp>
      <p:sp>
        <p:nvSpPr>
          <p:cNvPr id="21" name="flow-detail-3">
            <a:extLst xmlns:a="http://schemas.openxmlformats.org/drawingml/2006/main">
              <a:ext uri="{FF2B5EF4-FFF2-40B4-BE49-F238E27FC236}">
                <a16:creationId xmlns:a16="http://schemas.microsoft.com/office/drawing/2014/main" id="{755B331E-718D-4287-BD84-834930ABBB0D}"/>
              </a:ext>
            </a:extLst>
          </p:cNvPr>
          <p:cNvSpPr>
            <a:spLocks xmlns:a="http://schemas.openxmlformats.org/drawingml/2006/main" noGrp="1"/>
          </p:cNvSpPr>
          <p:nvPr/>
        </p:nvSpPr>
        <p:spPr>
          <a:xfrm xmlns:a="http://schemas.openxmlformats.org/drawingml/2006/main">
            <a:off x="4400550" y="3124200"/>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Six data-quality</a:t>
            </a:r>
          </a:p>
          <a:p xmlns:a="http://schemas.openxmlformats.org/drawingml/2006/main">
            <a:pPr>
              <a:buNone/>
              <a:defRPr sz="1200">
                <a:solidFill>
                  <a:srgbClr val="596579"/>
                </a:solidFill>
              </a:defRPr>
            </a:pPr>
            <a:r>
              <a:rPr sz="1200">
                <a:solidFill>
                  <a:srgbClr val="596579"/>
                </a:solidFill>
              </a:rPr>
              <a:t>and edge checks</a:t>
            </a:r>
          </a:p>
        </p:txBody>
      </p:sp>
      <p:sp>
        <p:nvSpPr>
          <p:cNvPr id="22" name="flow-node-4">
            <a:extLst xmlns:a="http://schemas.openxmlformats.org/drawingml/2006/main">
              <a:ext uri="{FF2B5EF4-FFF2-40B4-BE49-F238E27FC236}">
                <a16:creationId xmlns:a16="http://schemas.microsoft.com/office/drawing/2014/main" id="{4E20E532-21F0-49C4-A85A-72D6A7B4AD16}"/>
              </a:ext>
            </a:extLst>
          </p:cNvPr>
          <p:cNvSpPr>
            <a:spLocks xmlns:a="http://schemas.openxmlformats.org/drawingml/2006/main" noGrp="1"/>
          </p:cNvSpPr>
          <p:nvPr/>
        </p:nvSpPr>
        <p:spPr>
          <a:xfrm xmlns:a="http://schemas.openxmlformats.org/drawingml/2006/main">
            <a:off x="6076950" y="2095500"/>
            <a:ext cx="1524000" cy="1714500"/>
          </a:xfrm>
          <a:prstGeom xmlns:a="http://schemas.openxmlformats.org/drawingml/2006/main" prst="roundRect">
            <a:avLst>
              <a:gd name="adj" fmla="val 7500"/>
            </a:avLst>
          </a:prstGeom>
          <a:solidFill xmlns:a="http://schemas.openxmlformats.org/drawingml/2006/main">
            <a:srgbClr val="EEF2F6"/>
          </a:solidFill>
          <a:ln xmlns:a="http://schemas.openxmlformats.org/drawingml/2006/main" w="9525">
            <a:solidFill>
              <a:srgbClr val="CBD3DF"/>
            </a:solidFill>
            <a:prstDash val="solid"/>
          </a:ln>
        </p:spPr>
      </p:sp>
      <p:sp>
        <p:nvSpPr>
          <p:cNvPr id="23" name="flow-num-4">
            <a:extLst xmlns:a="http://schemas.openxmlformats.org/drawingml/2006/main">
              <a:ext uri="{FF2B5EF4-FFF2-40B4-BE49-F238E27FC236}">
                <a16:creationId xmlns:a16="http://schemas.microsoft.com/office/drawing/2014/main" id="{AE356215-1783-40DF-A4A7-EC75D0811C06}"/>
              </a:ext>
            </a:extLst>
          </p:cNvPr>
          <p:cNvSpPr>
            <a:spLocks xmlns:a="http://schemas.openxmlformats.org/drawingml/2006/main" noGrp="1"/>
          </p:cNvSpPr>
          <p:nvPr/>
        </p:nvSpPr>
        <p:spPr>
          <a:xfrm xmlns:a="http://schemas.openxmlformats.org/drawingml/2006/main">
            <a:off x="6248400" y="2266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3D8DFF"/>
                </a:solidFill>
              </a:defRPr>
            </a:pPr>
            <a:r>
              <a:rPr sz="1200" b="1">
                <a:solidFill>
                  <a:srgbClr val="3D8DFF"/>
                </a:solidFill>
              </a:rPr>
              <a:t>04</a:t>
            </a:r>
          </a:p>
        </p:txBody>
      </p:sp>
      <p:sp>
        <p:nvSpPr>
          <p:cNvPr id="24" name="flow-label-4">
            <a:extLst xmlns:a="http://schemas.openxmlformats.org/drawingml/2006/main">
              <a:ext uri="{FF2B5EF4-FFF2-40B4-BE49-F238E27FC236}">
                <a16:creationId xmlns:a16="http://schemas.microsoft.com/office/drawing/2014/main" id="{D4325D52-BC0F-4254-BBD8-0C541216E2C0}"/>
              </a:ext>
            </a:extLst>
          </p:cNvPr>
          <p:cNvSpPr>
            <a:spLocks xmlns:a="http://schemas.openxmlformats.org/drawingml/2006/main" noGrp="1"/>
          </p:cNvSpPr>
          <p:nvPr/>
        </p:nvSpPr>
        <p:spPr>
          <a:xfrm xmlns:a="http://schemas.openxmlformats.org/drawingml/2006/main">
            <a:off x="6248400" y="2647950"/>
            <a:ext cx="1181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0B1220"/>
                </a:solidFill>
              </a:defRPr>
            </a:pPr>
            <a:r>
              <a:rPr sz="1725" b="1">
                <a:solidFill>
                  <a:srgbClr val="0B1220"/>
                </a:solidFill>
              </a:rPr>
              <a:t>Construct</a:t>
            </a:r>
          </a:p>
        </p:txBody>
      </p:sp>
      <p:sp>
        <p:nvSpPr>
          <p:cNvPr id="25" name="flow-detail-4">
            <a:extLst xmlns:a="http://schemas.openxmlformats.org/drawingml/2006/main">
              <a:ext uri="{FF2B5EF4-FFF2-40B4-BE49-F238E27FC236}">
                <a16:creationId xmlns:a16="http://schemas.microsoft.com/office/drawing/2014/main" id="{68B7E499-058F-4386-A0B7-E0EE4B4B947E}"/>
              </a:ext>
            </a:extLst>
          </p:cNvPr>
          <p:cNvSpPr>
            <a:spLocks xmlns:a="http://schemas.openxmlformats.org/drawingml/2006/main" noGrp="1"/>
          </p:cNvSpPr>
          <p:nvPr/>
        </p:nvSpPr>
        <p:spPr>
          <a:xfrm xmlns:a="http://schemas.openxmlformats.org/drawingml/2006/main">
            <a:off x="6248400" y="3124200"/>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Exact defined-risk</a:t>
            </a:r>
          </a:p>
          <a:p xmlns:a="http://schemas.openxmlformats.org/drawingml/2006/main">
            <a:pPr>
              <a:buNone/>
              <a:defRPr sz="1200">
                <a:solidFill>
                  <a:srgbClr val="596579"/>
                </a:solidFill>
              </a:defRPr>
            </a:pPr>
            <a:r>
              <a:rPr sz="1200">
                <a:solidFill>
                  <a:srgbClr val="596579"/>
                </a:solidFill>
              </a:rPr>
              <a:t>option legs</a:t>
            </a:r>
          </a:p>
        </p:txBody>
      </p:sp>
      <p:sp>
        <p:nvSpPr>
          <p:cNvPr id="26" name="flow-node-5">
            <a:extLst xmlns:a="http://schemas.openxmlformats.org/drawingml/2006/main">
              <a:ext uri="{FF2B5EF4-FFF2-40B4-BE49-F238E27FC236}">
                <a16:creationId xmlns:a16="http://schemas.microsoft.com/office/drawing/2014/main" id="{CC3DB70A-FE4D-4594-91EE-835B9204797B}"/>
              </a:ext>
            </a:extLst>
          </p:cNvPr>
          <p:cNvSpPr>
            <a:spLocks xmlns:a="http://schemas.openxmlformats.org/drawingml/2006/main" noGrp="1"/>
          </p:cNvSpPr>
          <p:nvPr/>
        </p:nvSpPr>
        <p:spPr>
          <a:xfrm xmlns:a="http://schemas.openxmlformats.org/drawingml/2006/main">
            <a:off x="7924800" y="2095500"/>
            <a:ext cx="1524000" cy="1714500"/>
          </a:xfrm>
          <a:prstGeom xmlns:a="http://schemas.openxmlformats.org/drawingml/2006/main" prst="roundRect">
            <a:avLst>
              <a:gd name="adj" fmla="val 7500"/>
            </a:avLst>
          </a:prstGeom>
          <a:solidFill xmlns:a="http://schemas.openxmlformats.org/drawingml/2006/main">
            <a:srgbClr val="EEF2F6"/>
          </a:solidFill>
          <a:ln xmlns:a="http://schemas.openxmlformats.org/drawingml/2006/main" w="9525">
            <a:solidFill>
              <a:srgbClr val="CBD3DF"/>
            </a:solidFill>
            <a:prstDash val="solid"/>
          </a:ln>
        </p:spPr>
      </p:sp>
      <p:sp>
        <p:nvSpPr>
          <p:cNvPr id="27" name="flow-num-5">
            <a:extLst xmlns:a="http://schemas.openxmlformats.org/drawingml/2006/main">
              <a:ext uri="{FF2B5EF4-FFF2-40B4-BE49-F238E27FC236}">
                <a16:creationId xmlns:a16="http://schemas.microsoft.com/office/drawing/2014/main" id="{A31CD1B9-9505-4F9F-9701-350D3E8B1B6C}"/>
              </a:ext>
            </a:extLst>
          </p:cNvPr>
          <p:cNvSpPr>
            <a:spLocks xmlns:a="http://schemas.openxmlformats.org/drawingml/2006/main" noGrp="1"/>
          </p:cNvSpPr>
          <p:nvPr/>
        </p:nvSpPr>
        <p:spPr>
          <a:xfrm xmlns:a="http://schemas.openxmlformats.org/drawingml/2006/main">
            <a:off x="8096250" y="2266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3D8DFF"/>
                </a:solidFill>
              </a:defRPr>
            </a:pPr>
            <a:r>
              <a:rPr sz="1200" b="1">
                <a:solidFill>
                  <a:srgbClr val="3D8DFF"/>
                </a:solidFill>
              </a:rPr>
              <a:t>05</a:t>
            </a:r>
          </a:p>
        </p:txBody>
      </p:sp>
      <p:sp>
        <p:nvSpPr>
          <p:cNvPr id="28" name="flow-label-5">
            <a:extLst xmlns:a="http://schemas.openxmlformats.org/drawingml/2006/main">
              <a:ext uri="{FF2B5EF4-FFF2-40B4-BE49-F238E27FC236}">
                <a16:creationId xmlns:a16="http://schemas.microsoft.com/office/drawing/2014/main" id="{EB09A5A9-D6C6-4E5E-A92B-86612D15E998}"/>
              </a:ext>
            </a:extLst>
          </p:cNvPr>
          <p:cNvSpPr>
            <a:spLocks xmlns:a="http://schemas.openxmlformats.org/drawingml/2006/main" noGrp="1"/>
          </p:cNvSpPr>
          <p:nvPr/>
        </p:nvSpPr>
        <p:spPr>
          <a:xfrm xmlns:a="http://schemas.openxmlformats.org/drawingml/2006/main">
            <a:off x="8096250" y="2647950"/>
            <a:ext cx="1181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0B1220"/>
                </a:solidFill>
              </a:defRPr>
            </a:pPr>
            <a:r>
              <a:rPr sz="1725" b="1">
                <a:solidFill>
                  <a:srgbClr val="0B1220"/>
                </a:solidFill>
              </a:rPr>
              <a:t>Council</a:t>
            </a:r>
          </a:p>
        </p:txBody>
      </p:sp>
      <p:sp>
        <p:nvSpPr>
          <p:cNvPr id="29" name="flow-detail-5">
            <a:extLst xmlns:a="http://schemas.openxmlformats.org/drawingml/2006/main">
              <a:ext uri="{FF2B5EF4-FFF2-40B4-BE49-F238E27FC236}">
                <a16:creationId xmlns:a16="http://schemas.microsoft.com/office/drawing/2014/main" id="{47842CFB-E7F2-4624-B0B6-BAAEC78A49DC}"/>
              </a:ext>
            </a:extLst>
          </p:cNvPr>
          <p:cNvSpPr>
            <a:spLocks xmlns:a="http://schemas.openxmlformats.org/drawingml/2006/main" noGrp="1"/>
          </p:cNvSpPr>
          <p:nvPr/>
        </p:nvSpPr>
        <p:spPr>
          <a:xfrm xmlns:a="http://schemas.openxmlformats.org/drawingml/2006/main">
            <a:off x="8096250" y="3124200"/>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Five</a:t>
            </a:r>
            <a:r>
              <a:rPr sz="1200">
                <a:solidFill>
                  <a:srgbClr val="596579"/>
                </a:solidFill>
              </a:rPr>
              <a:t> transparent</a:t>
            </a:r>
          </a:p>
          <a:p xmlns:a="http://schemas.openxmlformats.org/drawingml/2006/main">
            <a:pPr>
              <a:buNone/>
              <a:defRPr sz="1200">
                <a:solidFill>
                  <a:srgbClr val="596579"/>
                </a:solidFill>
              </a:defRPr>
            </a:pPr>
            <a:r>
              <a:rPr sz="1200">
                <a:solidFill>
                  <a:srgbClr val="596579"/>
                </a:solidFill>
              </a:rPr>
              <a:t>specialists</a:t>
            </a:r>
          </a:p>
        </p:txBody>
      </p:sp>
      <p:sp>
        <p:nvSpPr>
          <p:cNvPr id="30" name="flow-node-6">
            <a:extLst xmlns:a="http://schemas.openxmlformats.org/drawingml/2006/main">
              <a:ext uri="{FF2B5EF4-FFF2-40B4-BE49-F238E27FC236}">
                <a16:creationId xmlns:a16="http://schemas.microsoft.com/office/drawing/2014/main" id="{9B5FA3F6-00E6-4116-B519-73F2D68A139E}"/>
              </a:ext>
            </a:extLst>
          </p:cNvPr>
          <p:cNvSpPr>
            <a:spLocks xmlns:a="http://schemas.openxmlformats.org/drawingml/2006/main" noGrp="1"/>
          </p:cNvSpPr>
          <p:nvPr/>
        </p:nvSpPr>
        <p:spPr>
          <a:xfrm xmlns:a="http://schemas.openxmlformats.org/drawingml/2006/main">
            <a:off x="9772650" y="2095500"/>
            <a:ext cx="1524000" cy="1714500"/>
          </a:xfrm>
          <a:prstGeom xmlns:a="http://schemas.openxmlformats.org/drawingml/2006/main" prst="roundRect">
            <a:avLst>
              <a:gd name="adj" fmla="val 7500"/>
            </a:avLst>
          </a:prstGeom>
          <a:solidFill xmlns:a="http://schemas.openxmlformats.org/drawingml/2006/main">
            <a:srgbClr val="DDF6EC"/>
          </a:solidFill>
          <a:ln xmlns:a="http://schemas.openxmlformats.org/drawingml/2006/main" w="9525">
            <a:solidFill>
              <a:srgbClr val="19A974"/>
            </a:solidFill>
            <a:prstDash val="solid"/>
          </a:ln>
        </p:spPr>
      </p:sp>
      <p:sp>
        <p:nvSpPr>
          <p:cNvPr id="31" name="flow-num-6">
            <a:extLst xmlns:a="http://schemas.openxmlformats.org/drawingml/2006/main">
              <a:ext uri="{FF2B5EF4-FFF2-40B4-BE49-F238E27FC236}">
                <a16:creationId xmlns:a16="http://schemas.microsoft.com/office/drawing/2014/main" id="{6D659706-1F5C-4B2C-AA4F-5F697E113D5F}"/>
              </a:ext>
            </a:extLst>
          </p:cNvPr>
          <p:cNvSpPr>
            <a:spLocks xmlns:a="http://schemas.openxmlformats.org/drawingml/2006/main" noGrp="1"/>
          </p:cNvSpPr>
          <p:nvPr/>
        </p:nvSpPr>
        <p:spPr>
          <a:xfrm xmlns:a="http://schemas.openxmlformats.org/drawingml/2006/main">
            <a:off x="9944100" y="2266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19A974"/>
                </a:solidFill>
              </a:defRPr>
            </a:pPr>
            <a:r>
              <a:rPr sz="1200" b="1">
                <a:solidFill>
                  <a:srgbClr val="19A974"/>
                </a:solidFill>
              </a:rPr>
              <a:t>06</a:t>
            </a:r>
          </a:p>
        </p:txBody>
      </p:sp>
      <p:sp>
        <p:nvSpPr>
          <p:cNvPr id="32" name="flow-label-6">
            <a:extLst xmlns:a="http://schemas.openxmlformats.org/drawingml/2006/main">
              <a:ext uri="{FF2B5EF4-FFF2-40B4-BE49-F238E27FC236}">
                <a16:creationId xmlns:a16="http://schemas.microsoft.com/office/drawing/2014/main" id="{2B04FA19-5EBA-4565-8E4D-B83436A9C55E}"/>
              </a:ext>
            </a:extLst>
          </p:cNvPr>
          <p:cNvSpPr>
            <a:spLocks xmlns:a="http://schemas.openxmlformats.org/drawingml/2006/main" noGrp="1"/>
          </p:cNvSpPr>
          <p:nvPr/>
        </p:nvSpPr>
        <p:spPr>
          <a:xfrm xmlns:a="http://schemas.openxmlformats.org/drawingml/2006/main">
            <a:off x="9944100" y="2647950"/>
            <a:ext cx="1181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725" b="1">
                <a:solidFill>
                  <a:srgbClr val="0B1220"/>
                </a:solidFill>
              </a:defRPr>
            </a:pPr>
            <a:r>
              <a:rPr sz="1725" b="1">
                <a:solidFill>
                  <a:srgbClr val="0B1220"/>
                </a:solidFill>
              </a:rPr>
              <a:t>Govern</a:t>
            </a:r>
          </a:p>
        </p:txBody>
      </p:sp>
      <p:sp>
        <p:nvSpPr>
          <p:cNvPr id="33" name="flow-detail-6">
            <a:extLst xmlns:a="http://schemas.openxmlformats.org/drawingml/2006/main">
              <a:ext uri="{FF2B5EF4-FFF2-40B4-BE49-F238E27FC236}">
                <a16:creationId xmlns:a16="http://schemas.microsoft.com/office/drawing/2014/main" id="{0CCEDC6F-F58B-44A9-9BE2-973C6C2F557C}"/>
              </a:ext>
            </a:extLst>
          </p:cNvPr>
          <p:cNvSpPr>
            <a:spLocks xmlns:a="http://schemas.openxmlformats.org/drawingml/2006/main" noGrp="1"/>
          </p:cNvSpPr>
          <p:nvPr/>
        </p:nvSpPr>
        <p:spPr>
          <a:xfrm xmlns:a="http://schemas.openxmlformats.org/drawingml/2006/main">
            <a:off x="9944100" y="3124200"/>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Thirteen gates</a:t>
            </a:r>
          </a:p>
          <a:p xmlns:a="http://schemas.openxmlformats.org/drawingml/2006/main">
            <a:pPr>
              <a:buNone/>
              <a:defRPr sz="1200">
                <a:solidFill>
                  <a:srgbClr val="596579"/>
                </a:solidFill>
              </a:defRPr>
            </a:pPr>
            <a:r>
              <a:rPr sz="1200">
                <a:solidFill>
                  <a:srgbClr val="596579"/>
                </a:solidFill>
              </a:rPr>
              <a:t>or abstain</a:t>
            </a:r>
          </a:p>
        </p:txBody>
      </p:sp>
      <p:sp>
        <p:nvSpPr>
          <p:cNvPr id="34" name="process-meaning">
            <a:extLst xmlns:a="http://schemas.openxmlformats.org/drawingml/2006/main">
              <a:ext uri="{FF2B5EF4-FFF2-40B4-BE49-F238E27FC236}">
                <a16:creationId xmlns:a16="http://schemas.microsoft.com/office/drawing/2014/main" id="{6503AB0C-3ED9-4212-8B11-0079D0D47E06}"/>
              </a:ext>
            </a:extLst>
          </p:cNvPr>
          <p:cNvSpPr>
            <a:spLocks xmlns:a="http://schemas.openxmlformats.org/drawingml/2006/main" noGrp="1"/>
          </p:cNvSpPr>
          <p:nvPr/>
        </p:nvSpPr>
        <p:spPr>
          <a:xfrm xmlns:a="http://schemas.openxmlformats.org/drawingml/2006/main">
            <a:off x="533400" y="4476750"/>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250" b="1">
                <a:solidFill>
                  <a:srgbClr val="0B1220"/>
                </a:solidFill>
              </a:defRPr>
            </a:pPr>
            <a:r>
              <a:rPr sz="2250" b="1">
                <a:solidFill>
                  <a:srgbClr val="0B1220"/>
                </a:solidFill>
              </a:rPr>
              <a:t>A failed input is a decision—not a missing result.</a:t>
            </a:r>
          </a:p>
        </p:txBody>
      </p:sp>
      <p:sp>
        <p:nvSpPr>
          <p:cNvPr id="35" name="process-detail">
            <a:extLst xmlns:a="http://schemas.openxmlformats.org/drawingml/2006/main">
              <a:ext uri="{FF2B5EF4-FFF2-40B4-BE49-F238E27FC236}">
                <a16:creationId xmlns:a16="http://schemas.microsoft.com/office/drawing/2014/main" id="{66BB6268-761B-4206-B5A6-68D7BE527560}"/>
              </a:ext>
            </a:extLst>
          </p:cNvPr>
          <p:cNvSpPr>
            <a:spLocks xmlns:a="http://schemas.openxmlformats.org/drawingml/2006/main" noGrp="1"/>
          </p:cNvSpPr>
          <p:nvPr/>
        </p:nvSpPr>
        <p:spPr>
          <a:xfrm xmlns:a="http://schemas.openxmlformats.org/drawingml/2006/main">
            <a:off x="533400" y="5086350"/>
            <a:ext cx="981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a:solidFill>
                  <a:srgbClr val="596579"/>
                </a:solidFill>
              </a:defRPr>
            </a:pPr>
            <a:r>
              <a:rPr sz="1500">
                <a:solidFill>
                  <a:srgbClr val="596579"/>
                </a:solidFill>
              </a:rPr>
              <a:t>VolGuard records candidates, blocks, and abstentions so the operator can review the full opportunity set instead of only the trades that survived.</a:t>
            </a:r>
          </a:p>
        </p:txBody>
      </p:sp>
    </p:spTree>
    <p:extLst>
      <p:ext uri="{BB962C8B-B14F-4D97-AF65-F5344CB8AC3E}">
        <p14:creationId xmlns:p14="http://schemas.microsoft.com/office/powerpoint/2010/main" val="3428988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3-eyebrow">
            <a:extLst xmlns:a="http://schemas.openxmlformats.org/drawingml/2006/main">
              <a:ext uri="{FF2B5EF4-FFF2-40B4-BE49-F238E27FC236}">
                <a16:creationId xmlns:a16="http://schemas.microsoft.com/office/drawing/2014/main" id="{D087AA5D-54B0-4611-9702-267519D5FDD3}"/>
              </a:ext>
            </a:extLst>
          </p:cNvPr>
          <p:cNvSpPr>
            <a:spLocks xmlns:a="http://schemas.openxmlformats.org/drawingml/2006/main" noGrp="1"/>
          </p:cNvSpPr>
          <p:nvPr/>
        </p:nvSpPr>
        <p:spPr>
          <a:xfrm xmlns:a="http://schemas.openxmlformats.org/drawingml/2006/main">
            <a:off x="533400" y="323850"/>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VOLGUARD AI  /  ALPACA PAPER OPTIONS</a:t>
            </a:r>
          </a:p>
        </p:txBody>
      </p:sp>
      <p:sp>
        <p:nvSpPr>
          <p:cNvPr id="2" name="slide-3-title">
            <a:extLst xmlns:a="http://schemas.openxmlformats.org/drawingml/2006/main">
              <a:ext uri="{FF2B5EF4-FFF2-40B4-BE49-F238E27FC236}">
                <a16:creationId xmlns:a16="http://schemas.microsoft.com/office/drawing/2014/main" id="{191D6D1C-1F96-4D58-A603-67911DC1BED1}"/>
              </a:ext>
            </a:extLst>
          </p:cNvPr>
          <p:cNvSpPr>
            <a:spLocks xmlns:a="http://schemas.openxmlformats.org/drawingml/2006/main" noGrp="1"/>
          </p:cNvSpPr>
          <p:nvPr/>
        </p:nvSpPr>
        <p:spPr>
          <a:xfrm xmlns:a="http://schemas.openxmlformats.org/drawingml/2006/main">
            <a:off x="533400" y="68580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150" b="1">
                <a:solidFill>
                  <a:srgbClr val="0B1220"/>
                </a:solidFill>
              </a:defRPr>
            </a:pPr>
            <a:r>
              <a:rPr sz="3150" b="1">
                <a:solidFill>
                  <a:srgbClr val="0B1220"/>
                </a:solidFill>
              </a:rPr>
              <a:t>Risk is policy, not a prompt</a:t>
            </a:r>
          </a:p>
        </p:txBody>
      </p:sp>
      <p:sp>
        <p:nvSpPr>
          <p:cNvPr id="3" name="slide-3-rule">
            <a:extLst xmlns:a="http://schemas.openxmlformats.org/drawingml/2006/main">
              <a:ext uri="{FF2B5EF4-FFF2-40B4-BE49-F238E27FC236}">
                <a16:creationId xmlns:a16="http://schemas.microsoft.com/office/drawing/2014/main" id="{F22D9B72-26C9-4C14-B45D-43F2B1FF0C40}"/>
              </a:ext>
            </a:extLst>
          </p:cNvPr>
          <p:cNvSpPr>
            <a:spLocks xmlns:a="http://schemas.openxmlformats.org/drawingml/2006/main" noGrp="1"/>
          </p:cNvSpPr>
          <p:nvPr/>
        </p:nvSpPr>
        <p:spPr>
          <a:xfrm xmlns:a="http://schemas.openxmlformats.org/drawingml/2006/main">
            <a:off x="533400" y="6286500"/>
            <a:ext cx="11125200" cy="0"/>
          </a:xfrm>
          <a:prstGeom xmlns:a="http://schemas.openxmlformats.org/drawingml/2006/main" prst="line">
            <a:avLst/>
          </a:prstGeom>
          <a:noFill xmlns:a="http://schemas.openxmlformats.org/drawingml/2006/main"/>
          <a:ln xmlns:a="http://schemas.openxmlformats.org/drawingml/2006/main" w="9525">
            <a:solidFill>
              <a:srgbClr val="CBD3DF"/>
            </a:solidFill>
            <a:prstDash val="solid"/>
          </a:ln>
        </p:spPr>
      </p:sp>
      <p:sp>
        <p:nvSpPr>
          <p:cNvPr id="4" name="slide-3-number">
            <a:extLst xmlns:a="http://schemas.openxmlformats.org/drawingml/2006/main">
              <a:ext uri="{FF2B5EF4-FFF2-40B4-BE49-F238E27FC236}">
                <a16:creationId xmlns:a16="http://schemas.microsoft.com/office/drawing/2014/main" id="{705263EF-AFA4-4F73-B4DD-20D86E3196FE}"/>
              </a:ext>
            </a:extLst>
          </p:cNvPr>
          <p:cNvSpPr>
            <a:spLocks xmlns:a="http://schemas.openxmlformats.org/drawingml/2006/main" noGrp="1"/>
          </p:cNvSpPr>
          <p:nvPr/>
        </p:nvSpPr>
        <p:spPr>
          <a:xfrm xmlns:a="http://schemas.openxmlformats.org/drawingml/2006/main">
            <a:off x="11144250" y="63817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a:solidFill>
                  <a:srgbClr val="596579"/>
                </a:solidFill>
              </a:defRPr>
            </a:pPr>
            <a:r>
              <a:rPr sz="900">
                <a:solidFill>
                  <a:srgbClr val="596579"/>
                </a:solidFill>
              </a:rPr>
              <a:t>03</a:t>
            </a:r>
          </a:p>
        </p:txBody>
      </p:sp>
      <p:sp>
        <p:nvSpPr>
          <p:cNvPr id="5" name="risk-intro">
            <a:extLst xmlns:a="http://schemas.openxmlformats.org/drawingml/2006/main">
              <a:ext uri="{FF2B5EF4-FFF2-40B4-BE49-F238E27FC236}">
                <a16:creationId xmlns:a16="http://schemas.microsoft.com/office/drawing/2014/main" id="{7729F32A-66F2-4487-96F2-F1AE95A6F07E}"/>
              </a:ext>
            </a:extLst>
          </p:cNvPr>
          <p:cNvSpPr>
            <a:spLocks xmlns:a="http://schemas.openxmlformats.org/drawingml/2006/main" noGrp="1"/>
          </p:cNvSpPr>
          <p:nvPr/>
        </p:nvSpPr>
        <p:spPr>
          <a:xfrm xmlns:a="http://schemas.openxmlformats.org/drawingml/2006/main">
            <a:off x="533400" y="137160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596579"/>
                </a:solidFill>
              </a:defRPr>
            </a:pPr>
            <a:r>
              <a:rPr sz="1575">
                <a:solidFill>
                  <a:srgbClr val="596579"/>
                </a:solidFill>
              </a:rPr>
              <a:t>The specialist council explains the evidence. Only the deterministic governor can approve a proposal.</a:t>
            </a:r>
          </a:p>
        </p:txBody>
      </p:sp>
      <p:sp>
        <p:nvSpPr>
          <p:cNvPr id="6" name="risk-metric-1">
            <a:extLst xmlns:a="http://schemas.openxmlformats.org/drawingml/2006/main">
              <a:ext uri="{FF2B5EF4-FFF2-40B4-BE49-F238E27FC236}">
                <a16:creationId xmlns:a16="http://schemas.microsoft.com/office/drawing/2014/main" id="{0D36CED9-716D-49B3-B795-61C06771CFC7}"/>
              </a:ext>
            </a:extLst>
          </p:cNvPr>
          <p:cNvSpPr>
            <a:spLocks xmlns:a="http://schemas.openxmlformats.org/drawingml/2006/main" noGrp="1"/>
          </p:cNvSpPr>
          <p:nvPr/>
        </p:nvSpPr>
        <p:spPr>
          <a:xfrm xmlns:a="http://schemas.openxmlformats.org/drawingml/2006/main">
            <a:off x="533400" y="2190750"/>
            <a:ext cx="3429000" cy="2095500"/>
          </a:xfrm>
          <a:prstGeom xmlns:a="http://schemas.openxmlformats.org/drawingml/2006/main" prst="roundRect">
            <a:avLst>
              <a:gd name="adj" fmla="val 5455"/>
            </a:avLst>
          </a:prstGeom>
          <a:solidFill xmlns:a="http://schemas.openxmlformats.org/drawingml/2006/main">
            <a:srgbClr val="D9EDFF"/>
          </a:solidFill>
          <a:ln xmlns:a="http://schemas.openxmlformats.org/drawingml/2006/main" w="9525">
            <a:solidFill>
              <a:srgbClr val="3D8DFF"/>
            </a:solidFill>
            <a:prstDash val="solid"/>
          </a:ln>
        </p:spPr>
      </p:sp>
      <p:sp>
        <p:nvSpPr>
          <p:cNvPr id="7" name="risk-stat-1">
            <a:extLst xmlns:a="http://schemas.openxmlformats.org/drawingml/2006/main">
              <a:ext uri="{FF2B5EF4-FFF2-40B4-BE49-F238E27FC236}">
                <a16:creationId xmlns:a16="http://schemas.microsoft.com/office/drawing/2014/main" id="{B8F6CDB7-CB2C-4EFB-AF6A-757577446A81}"/>
              </a:ext>
            </a:extLst>
          </p:cNvPr>
          <p:cNvSpPr>
            <a:spLocks xmlns:a="http://schemas.openxmlformats.org/drawingml/2006/main" noGrp="1"/>
          </p:cNvSpPr>
          <p:nvPr/>
        </p:nvSpPr>
        <p:spPr>
          <a:xfrm xmlns:a="http://schemas.openxmlformats.org/drawingml/2006/main">
            <a:off x="781050" y="2428875"/>
            <a:ext cx="2914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050" b="1">
                <a:solidFill>
                  <a:srgbClr val="3D8DFF"/>
                </a:solidFill>
              </a:defRPr>
            </a:pPr>
            <a:r>
              <a:rPr sz="4050" b="1">
                <a:solidFill>
                  <a:srgbClr val="3D8DFF"/>
                </a:solidFill>
              </a:rPr>
              <a:t>13</a:t>
            </a:r>
          </a:p>
        </p:txBody>
      </p:sp>
      <p:sp>
        <p:nvSpPr>
          <p:cNvPr id="8" name="risk-label-1">
            <a:extLst xmlns:a="http://schemas.openxmlformats.org/drawingml/2006/main">
              <a:ext uri="{FF2B5EF4-FFF2-40B4-BE49-F238E27FC236}">
                <a16:creationId xmlns:a16="http://schemas.microsoft.com/office/drawing/2014/main" id="{3D78EA5B-B495-4095-8B1F-73A2AFD7DEAC}"/>
              </a:ext>
            </a:extLst>
          </p:cNvPr>
          <p:cNvSpPr>
            <a:spLocks xmlns:a="http://schemas.openxmlformats.org/drawingml/2006/main" noGrp="1"/>
          </p:cNvSpPr>
          <p:nvPr/>
        </p:nvSpPr>
        <p:spPr>
          <a:xfrm xmlns:a="http://schemas.openxmlformats.org/drawingml/2006/main">
            <a:off x="781050" y="32194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0B1220"/>
                </a:solidFill>
              </a:defRPr>
            </a:pPr>
            <a:r>
              <a:rPr sz="1650" b="1">
                <a:solidFill>
                  <a:srgbClr val="0B1220"/>
                </a:solidFill>
              </a:rPr>
              <a:t>hard gates</a:t>
            </a:r>
          </a:p>
        </p:txBody>
      </p:sp>
      <p:sp>
        <p:nvSpPr>
          <p:cNvPr id="9" name="risk-detail-1">
            <a:extLst xmlns:a="http://schemas.openxmlformats.org/drawingml/2006/main">
              <a:ext uri="{FF2B5EF4-FFF2-40B4-BE49-F238E27FC236}">
                <a16:creationId xmlns:a16="http://schemas.microsoft.com/office/drawing/2014/main" id="{6CE19BAC-8F96-4E57-885B-80C4C7B0BDDD}"/>
              </a:ext>
            </a:extLst>
          </p:cNvPr>
          <p:cNvSpPr>
            <a:spLocks xmlns:a="http://schemas.openxmlformats.org/drawingml/2006/main" noGrp="1"/>
          </p:cNvSpPr>
          <p:nvPr/>
        </p:nvSpPr>
        <p:spPr>
          <a:xfrm xmlns:a="http://schemas.openxmlformats.org/drawingml/2006/main">
            <a:off x="781050" y="36766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6579"/>
                </a:solidFill>
              </a:defRPr>
            </a:pPr>
            <a:r>
              <a:rPr sz="1275">
                <a:solidFill>
                  <a:srgbClr val="596579"/>
                </a:solidFill>
              </a:rPr>
              <a:t>All must pass</a:t>
            </a:r>
          </a:p>
        </p:txBody>
      </p:sp>
      <p:sp>
        <p:nvSpPr>
          <p:cNvPr id="10" name="risk-metric-2">
            <a:extLst xmlns:a="http://schemas.openxmlformats.org/drawingml/2006/main">
              <a:ext uri="{FF2B5EF4-FFF2-40B4-BE49-F238E27FC236}">
                <a16:creationId xmlns:a16="http://schemas.microsoft.com/office/drawing/2014/main" id="{834E3072-67DB-416A-A8AA-4FC347F71452}"/>
              </a:ext>
            </a:extLst>
          </p:cNvPr>
          <p:cNvSpPr>
            <a:spLocks xmlns:a="http://schemas.openxmlformats.org/drawingml/2006/main" noGrp="1"/>
          </p:cNvSpPr>
          <p:nvPr/>
        </p:nvSpPr>
        <p:spPr>
          <a:xfrm xmlns:a="http://schemas.openxmlformats.org/drawingml/2006/main">
            <a:off x="4286250" y="2190750"/>
            <a:ext cx="3429000" cy="2095500"/>
          </a:xfrm>
          <a:prstGeom xmlns:a="http://schemas.openxmlformats.org/drawingml/2006/main" prst="roundRect">
            <a:avLst>
              <a:gd name="adj" fmla="val 5455"/>
            </a:avLst>
          </a:prstGeom>
          <a:solidFill xmlns:a="http://schemas.openxmlformats.org/drawingml/2006/main">
            <a:srgbClr val="EEF2F6"/>
          </a:solidFill>
          <a:ln xmlns:a="http://schemas.openxmlformats.org/drawingml/2006/main" w="9525">
            <a:solidFill>
              <a:srgbClr val="CBD3DF"/>
            </a:solidFill>
            <a:prstDash val="solid"/>
          </a:ln>
        </p:spPr>
      </p:sp>
      <p:sp>
        <p:nvSpPr>
          <p:cNvPr id="11" name="risk-stat-2">
            <a:extLst xmlns:a="http://schemas.openxmlformats.org/drawingml/2006/main">
              <a:ext uri="{FF2B5EF4-FFF2-40B4-BE49-F238E27FC236}">
                <a16:creationId xmlns:a16="http://schemas.microsoft.com/office/drawing/2014/main" id="{859D144C-FA94-4EFE-B805-840B74E82820}"/>
              </a:ext>
            </a:extLst>
          </p:cNvPr>
          <p:cNvSpPr>
            <a:spLocks xmlns:a="http://schemas.openxmlformats.org/drawingml/2006/main" noGrp="1"/>
          </p:cNvSpPr>
          <p:nvPr/>
        </p:nvSpPr>
        <p:spPr>
          <a:xfrm xmlns:a="http://schemas.openxmlformats.org/drawingml/2006/main">
            <a:off x="4533900" y="2428875"/>
            <a:ext cx="2914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050" b="1">
                <a:solidFill>
                  <a:srgbClr val="0B1220"/>
                </a:solidFill>
              </a:defRPr>
            </a:pPr>
            <a:r>
              <a:rPr sz="4050" b="1">
                <a:solidFill>
                  <a:srgbClr val="0B1220"/>
                </a:solidFill>
              </a:rPr>
              <a:t>$500</a:t>
            </a:r>
          </a:p>
        </p:txBody>
      </p:sp>
      <p:sp>
        <p:nvSpPr>
          <p:cNvPr id="12" name="risk-label-2">
            <a:extLst xmlns:a="http://schemas.openxmlformats.org/drawingml/2006/main">
              <a:ext uri="{FF2B5EF4-FFF2-40B4-BE49-F238E27FC236}">
                <a16:creationId xmlns:a16="http://schemas.microsoft.com/office/drawing/2014/main" id="{5E5B5042-ADA1-473B-AD0B-E104FD2624D0}"/>
              </a:ext>
            </a:extLst>
          </p:cNvPr>
          <p:cNvSpPr>
            <a:spLocks xmlns:a="http://schemas.openxmlformats.org/drawingml/2006/main" noGrp="1"/>
          </p:cNvSpPr>
          <p:nvPr/>
        </p:nvSpPr>
        <p:spPr>
          <a:xfrm xmlns:a="http://schemas.openxmlformats.org/drawingml/2006/main">
            <a:off x="4533900" y="32194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0B1220"/>
                </a:solidFill>
              </a:defRPr>
            </a:pPr>
            <a:r>
              <a:rPr sz="1650" b="1">
                <a:solidFill>
                  <a:srgbClr val="0B1220"/>
                </a:solidFill>
              </a:rPr>
              <a:t>max loss / strategy</a:t>
            </a:r>
          </a:p>
        </p:txBody>
      </p:sp>
      <p:sp>
        <p:nvSpPr>
          <p:cNvPr id="13" name="risk-detail-2">
            <a:extLst xmlns:a="http://schemas.openxmlformats.org/drawingml/2006/main">
              <a:ext uri="{FF2B5EF4-FFF2-40B4-BE49-F238E27FC236}">
                <a16:creationId xmlns:a16="http://schemas.microsoft.com/office/drawing/2014/main" id="{61AD19C0-D167-48FA-9E23-5A4BF1571CF0}"/>
              </a:ext>
            </a:extLst>
          </p:cNvPr>
          <p:cNvSpPr>
            <a:spLocks xmlns:a="http://schemas.openxmlformats.org/drawingml/2006/main" noGrp="1"/>
          </p:cNvSpPr>
          <p:nvPr/>
        </p:nvSpPr>
        <p:spPr>
          <a:xfrm xmlns:a="http://schemas.openxmlformats.org/drawingml/2006/main">
            <a:off x="4533900" y="36766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6579"/>
                </a:solidFill>
              </a:defRPr>
            </a:pPr>
            <a:r>
              <a:rPr sz="1275">
                <a:solidFill>
                  <a:srgbClr val="596579"/>
                </a:solidFill>
              </a:rPr>
              <a:t>Defined before entry</a:t>
            </a:r>
          </a:p>
        </p:txBody>
      </p:sp>
      <p:sp>
        <p:nvSpPr>
          <p:cNvPr id="14" name="risk-metric-3">
            <a:extLst xmlns:a="http://schemas.openxmlformats.org/drawingml/2006/main">
              <a:ext uri="{FF2B5EF4-FFF2-40B4-BE49-F238E27FC236}">
                <a16:creationId xmlns:a16="http://schemas.microsoft.com/office/drawing/2014/main" id="{FA44F81C-71E0-47C7-8623-3E9F579DBBD8}"/>
              </a:ext>
            </a:extLst>
          </p:cNvPr>
          <p:cNvSpPr>
            <a:spLocks xmlns:a="http://schemas.openxmlformats.org/drawingml/2006/main" noGrp="1"/>
          </p:cNvSpPr>
          <p:nvPr/>
        </p:nvSpPr>
        <p:spPr>
          <a:xfrm xmlns:a="http://schemas.openxmlformats.org/drawingml/2006/main">
            <a:off x="8039100" y="2190750"/>
            <a:ext cx="3429000" cy="2095500"/>
          </a:xfrm>
          <a:prstGeom xmlns:a="http://schemas.openxmlformats.org/drawingml/2006/main" prst="roundRect">
            <a:avLst>
              <a:gd name="adj" fmla="val 5455"/>
            </a:avLst>
          </a:prstGeom>
          <a:solidFill xmlns:a="http://schemas.openxmlformats.org/drawingml/2006/main">
            <a:srgbClr val="EEF2F6"/>
          </a:solidFill>
          <a:ln xmlns:a="http://schemas.openxmlformats.org/drawingml/2006/main" w="9525">
            <a:solidFill>
              <a:srgbClr val="CBD3DF"/>
            </a:solidFill>
            <a:prstDash val="solid"/>
          </a:ln>
        </p:spPr>
      </p:sp>
      <p:sp>
        <p:nvSpPr>
          <p:cNvPr id="15" name="risk-stat-3">
            <a:extLst xmlns:a="http://schemas.openxmlformats.org/drawingml/2006/main">
              <a:ext uri="{FF2B5EF4-FFF2-40B4-BE49-F238E27FC236}">
                <a16:creationId xmlns:a16="http://schemas.microsoft.com/office/drawing/2014/main" id="{F9A7CF6D-6611-4F04-AC57-B0DA0D1A11BE}"/>
              </a:ext>
            </a:extLst>
          </p:cNvPr>
          <p:cNvSpPr>
            <a:spLocks xmlns:a="http://schemas.openxmlformats.org/drawingml/2006/main" noGrp="1"/>
          </p:cNvSpPr>
          <p:nvPr/>
        </p:nvSpPr>
        <p:spPr>
          <a:xfrm xmlns:a="http://schemas.openxmlformats.org/drawingml/2006/main">
            <a:off x="8286750" y="2428875"/>
            <a:ext cx="2914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050" b="1">
                <a:solidFill>
                  <a:srgbClr val="0B1220"/>
                </a:solidFill>
              </a:defRPr>
            </a:pPr>
            <a:r>
              <a:rPr sz="4050" b="1">
                <a:solidFill>
                  <a:srgbClr val="0B1220"/>
                </a:solidFill>
              </a:rPr>
              <a:t>$1,000</a:t>
            </a:r>
          </a:p>
        </p:txBody>
      </p:sp>
      <p:sp>
        <p:nvSpPr>
          <p:cNvPr id="16" name="risk-label-3">
            <a:extLst xmlns:a="http://schemas.openxmlformats.org/drawingml/2006/main">
              <a:ext uri="{FF2B5EF4-FFF2-40B4-BE49-F238E27FC236}">
                <a16:creationId xmlns:a16="http://schemas.microsoft.com/office/drawing/2014/main" id="{02F800D2-7B25-4042-B27F-4B994A56BE84}"/>
              </a:ext>
            </a:extLst>
          </p:cNvPr>
          <p:cNvSpPr>
            <a:spLocks xmlns:a="http://schemas.openxmlformats.org/drawingml/2006/main" noGrp="1"/>
          </p:cNvSpPr>
          <p:nvPr/>
        </p:nvSpPr>
        <p:spPr>
          <a:xfrm xmlns:a="http://schemas.openxmlformats.org/drawingml/2006/main">
            <a:off x="8286750" y="32194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0B1220"/>
                </a:solidFill>
              </a:defRPr>
            </a:pPr>
            <a:r>
              <a:rPr sz="1650" b="1">
                <a:solidFill>
                  <a:srgbClr val="0B1220"/>
                </a:solidFill>
              </a:rPr>
              <a:t>combined open risk</a:t>
            </a:r>
          </a:p>
        </p:txBody>
      </p:sp>
      <p:sp>
        <p:nvSpPr>
          <p:cNvPr id="17" name="risk-detail-3">
            <a:extLst xmlns:a="http://schemas.openxmlformats.org/drawingml/2006/main">
              <a:ext uri="{FF2B5EF4-FFF2-40B4-BE49-F238E27FC236}">
                <a16:creationId xmlns:a16="http://schemas.microsoft.com/office/drawing/2014/main" id="{4DA19358-C2D6-480E-A17D-FA13FACEFA27}"/>
              </a:ext>
            </a:extLst>
          </p:cNvPr>
          <p:cNvSpPr>
            <a:spLocks xmlns:a="http://schemas.openxmlformats.org/drawingml/2006/main" noGrp="1"/>
          </p:cNvSpPr>
          <p:nvPr/>
        </p:nvSpPr>
        <p:spPr>
          <a:xfrm xmlns:a="http://schemas.openxmlformats.org/drawingml/2006/main">
            <a:off x="8286750" y="36766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6579"/>
                </a:solidFill>
              </a:defRPr>
            </a:pPr>
            <a:r>
              <a:rPr sz="1275">
                <a:solidFill>
                  <a:srgbClr val="596579"/>
                </a:solidFill>
              </a:rPr>
              <a:t>At most two strategies</a:t>
            </a:r>
          </a:p>
        </p:txBody>
      </p:sp>
      <p:sp>
        <p:nvSpPr>
          <p:cNvPr id="18" name="risk-list-a">
            <a:extLst xmlns:a="http://schemas.openxmlformats.org/drawingml/2006/main">
              <a:ext uri="{FF2B5EF4-FFF2-40B4-BE49-F238E27FC236}">
                <a16:creationId xmlns:a16="http://schemas.microsoft.com/office/drawing/2014/main" id="{7118C727-67C3-44DB-BBD9-3D198469A5B0}"/>
              </a:ext>
            </a:extLst>
          </p:cNvPr>
          <p:cNvSpPr>
            <a:spLocks xmlns:a="http://schemas.openxmlformats.org/drawingml/2006/main" noGrp="1"/>
          </p:cNvSpPr>
          <p:nvPr/>
        </p:nvSpPr>
        <p:spPr>
          <a:xfrm xmlns:a="http://schemas.openxmlformats.org/drawingml/2006/main">
            <a:off x="533400" y="4724400"/>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0B1220"/>
                </a:solidFill>
              </a:defRPr>
            </a:pPr>
            <a:r>
              <a:rPr sz="1350" b="1">
                <a:solidFill>
                  <a:srgbClr val="0B1220"/>
                </a:solidFill>
              </a:rPr>
              <a:t>Paper only  •  Defined loss  •  Covered shorts  •  No same-day expiry  •  Quote age ≤ 60s</a:t>
            </a:r>
          </a:p>
        </p:txBody>
      </p:sp>
      <p:sp>
        <p:nvSpPr>
          <p:cNvPr id="19" name="risk-list-b">
            <a:extLst xmlns:a="http://schemas.openxmlformats.org/drawingml/2006/main">
              <a:ext uri="{FF2B5EF4-FFF2-40B4-BE49-F238E27FC236}">
                <a16:creationId xmlns:a16="http://schemas.microsoft.com/office/drawing/2014/main" id="{637626DC-9844-4242-8484-D025442DECBD}"/>
              </a:ext>
            </a:extLst>
          </p:cNvPr>
          <p:cNvSpPr>
            <a:spLocks xmlns:a="http://schemas.openxmlformats.org/drawingml/2006/main" noGrp="1"/>
          </p:cNvSpPr>
          <p:nvPr/>
        </p:nvSpPr>
        <p:spPr>
          <a:xfrm xmlns:a="http://schemas.openxmlformats.org/drawingml/2006/main">
            <a:off x="533400" y="5162550"/>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0B1220"/>
                </a:solidFill>
              </a:defRPr>
            </a:pPr>
            <a:r>
              <a:rPr sz="1350" b="1">
                <a:solidFill>
                  <a:srgbClr val="0B1220"/>
                </a:solidFill>
              </a:rPr>
              <a:t>Spread ≤ 12%  •  Confidence ≥ 65%  •  Drawdown limits  •  Capacity  •  One strategy per underlying</a:t>
            </a:r>
          </a:p>
        </p:txBody>
      </p:sp>
      <p:sp>
        <p:nvSpPr>
          <p:cNvPr id="20" name="risk-veto">
            <a:extLst xmlns:a="http://schemas.openxmlformats.org/drawingml/2006/main">
              <a:ext uri="{FF2B5EF4-FFF2-40B4-BE49-F238E27FC236}">
                <a16:creationId xmlns:a16="http://schemas.microsoft.com/office/drawing/2014/main" id="{435BBA6B-06E1-4511-A714-D7F38AF2EE3A}"/>
              </a:ext>
            </a:extLst>
          </p:cNvPr>
          <p:cNvSpPr>
            <a:spLocks xmlns:a="http://schemas.openxmlformats.org/drawingml/2006/main" noGrp="1"/>
          </p:cNvSpPr>
          <p:nvPr/>
        </p:nvSpPr>
        <p:spPr>
          <a:xfrm xmlns:a="http://schemas.openxmlformats.org/drawingml/2006/main">
            <a:off x="533400" y="56578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C73E4D"/>
                </a:solidFill>
              </a:defRPr>
            </a:pPr>
            <a:r>
              <a:rPr sz="1500" b="1">
                <a:solidFill>
                  <a:srgbClr val="C73E4D"/>
                </a:solidFill>
              </a:rPr>
              <a:t>Any mismatch, stale quote, memory conflict, or red-team veto stops the workflow.</a:t>
            </a:r>
          </a:p>
        </p:txBody>
      </p:sp>
    </p:spTree>
    <p:extLst>
      <p:ext uri="{BB962C8B-B14F-4D97-AF65-F5344CB8AC3E}">
        <p14:creationId xmlns:p14="http://schemas.microsoft.com/office/powerpoint/2010/main" val="3978707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lide-4-eyebrow">
            <a:extLst xmlns:a="http://schemas.openxmlformats.org/drawingml/2006/main">
              <a:ext uri="{FF2B5EF4-FFF2-40B4-BE49-F238E27FC236}">
                <a16:creationId xmlns:a16="http://schemas.microsoft.com/office/drawing/2014/main" id="{1508EE72-AD97-454C-88C9-0CF99B1994D4}"/>
              </a:ext>
            </a:extLst>
          </p:cNvPr>
          <p:cNvSpPr>
            <a:spLocks xmlns:a="http://schemas.openxmlformats.org/drawingml/2006/main" noGrp="1"/>
          </p:cNvSpPr>
          <p:nvPr/>
        </p:nvSpPr>
        <p:spPr>
          <a:xfrm xmlns:a="http://schemas.openxmlformats.org/drawingml/2006/main">
            <a:off x="533400" y="323850"/>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VOLGUARD AI  /  ALPACA PAPER OPTIONS</a:t>
            </a:r>
          </a:p>
        </p:txBody>
      </p:sp>
      <p:sp>
        <p:nvSpPr>
          <p:cNvPr id="2" name="slide-4-title">
            <a:extLst xmlns:a="http://schemas.openxmlformats.org/drawingml/2006/main">
              <a:ext uri="{FF2B5EF4-FFF2-40B4-BE49-F238E27FC236}">
                <a16:creationId xmlns:a16="http://schemas.microsoft.com/office/drawing/2014/main" id="{BDA5B00C-A9BA-4E5B-89CE-B4421FBEB860}"/>
              </a:ext>
            </a:extLst>
          </p:cNvPr>
          <p:cNvSpPr>
            <a:spLocks xmlns:a="http://schemas.openxmlformats.org/drawingml/2006/main" noGrp="1"/>
          </p:cNvSpPr>
          <p:nvPr/>
        </p:nvSpPr>
        <p:spPr>
          <a:xfrm xmlns:a="http://schemas.openxmlformats.org/drawingml/2006/main">
            <a:off x="533400" y="68580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150" b="1">
                <a:solidFill>
                  <a:srgbClr val="0B1220"/>
                </a:solidFill>
              </a:defRPr>
            </a:pPr>
            <a:r>
              <a:rPr sz="3150" b="1">
                <a:solidFill>
                  <a:srgbClr val="0B1220"/>
                </a:solidFill>
              </a:rPr>
              <a:t>A real paper fill proves the full path</a:t>
            </a:r>
          </a:p>
        </p:txBody>
      </p:sp>
      <p:sp>
        <p:nvSpPr>
          <p:cNvPr id="3" name="slide-4-rule">
            <a:extLst xmlns:a="http://schemas.openxmlformats.org/drawingml/2006/main">
              <a:ext uri="{FF2B5EF4-FFF2-40B4-BE49-F238E27FC236}">
                <a16:creationId xmlns:a16="http://schemas.microsoft.com/office/drawing/2014/main" id="{8E171F26-8AB1-41E3-8E16-107541C47167}"/>
              </a:ext>
            </a:extLst>
          </p:cNvPr>
          <p:cNvSpPr>
            <a:spLocks xmlns:a="http://schemas.openxmlformats.org/drawingml/2006/main" noGrp="1"/>
          </p:cNvSpPr>
          <p:nvPr/>
        </p:nvSpPr>
        <p:spPr>
          <a:xfrm xmlns:a="http://schemas.openxmlformats.org/drawingml/2006/main">
            <a:off x="533400" y="6286500"/>
            <a:ext cx="11125200" cy="0"/>
          </a:xfrm>
          <a:prstGeom xmlns:a="http://schemas.openxmlformats.org/drawingml/2006/main" prst="line">
            <a:avLst/>
          </a:prstGeom>
          <a:noFill xmlns:a="http://schemas.openxmlformats.org/drawingml/2006/main"/>
          <a:ln xmlns:a="http://schemas.openxmlformats.org/drawingml/2006/main" w="9525">
            <a:solidFill>
              <a:srgbClr val="CBD3DF"/>
            </a:solidFill>
            <a:prstDash val="solid"/>
          </a:ln>
        </p:spPr>
      </p:sp>
      <p:sp>
        <p:nvSpPr>
          <p:cNvPr id="4" name="slide-4-number">
            <a:extLst xmlns:a="http://schemas.openxmlformats.org/drawingml/2006/main">
              <a:ext uri="{FF2B5EF4-FFF2-40B4-BE49-F238E27FC236}">
                <a16:creationId xmlns:a16="http://schemas.microsoft.com/office/drawing/2014/main" id="{7335F05B-D41E-4637-A7E7-A07A8B082435}"/>
              </a:ext>
            </a:extLst>
          </p:cNvPr>
          <p:cNvSpPr>
            <a:spLocks xmlns:a="http://schemas.openxmlformats.org/drawingml/2006/main" noGrp="1"/>
          </p:cNvSpPr>
          <p:nvPr/>
        </p:nvSpPr>
        <p:spPr>
          <a:xfrm xmlns:a="http://schemas.openxmlformats.org/drawingml/2006/main">
            <a:off x="11144250" y="63817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a:solidFill>
                  <a:srgbClr val="596579"/>
                </a:solidFill>
              </a:defRPr>
            </a:pPr>
            <a:r>
              <a:rPr sz="900">
                <a:solidFill>
                  <a:srgbClr val="596579"/>
                </a:solidFill>
              </a:rPr>
              <a:t>04</a:t>
            </a:r>
          </a:p>
        </p:txBody>
      </p:sp>
      <p:sp>
        <p:nvSpPr>
          <p:cNvPr id="5" name="trade-symbol">
            <a:extLst xmlns:a="http://schemas.openxmlformats.org/drawingml/2006/main">
              <a:ext uri="{FF2B5EF4-FFF2-40B4-BE49-F238E27FC236}">
                <a16:creationId xmlns:a16="http://schemas.microsoft.com/office/drawing/2014/main" id="{D20C9656-A3E2-4DE7-8E1A-155B7D88FAAB}"/>
              </a:ext>
            </a:extLst>
          </p:cNvPr>
          <p:cNvSpPr>
            <a:spLocks xmlns:a="http://schemas.openxmlformats.org/drawingml/2006/main" noGrp="1"/>
          </p:cNvSpPr>
          <p:nvPr/>
        </p:nvSpPr>
        <p:spPr>
          <a:xfrm xmlns:a="http://schemas.openxmlformats.org/drawingml/2006/main">
            <a:off x="533400" y="1562100"/>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350" b="1">
                <a:solidFill>
                  <a:srgbClr val="3D8DFF"/>
                </a:solidFill>
              </a:defRPr>
            </a:pPr>
            <a:r>
              <a:rPr sz="4350" b="1">
                <a:solidFill>
                  <a:srgbClr val="3D8DFF"/>
                </a:solidFill>
              </a:rPr>
              <a:t>GLD</a:t>
            </a:r>
          </a:p>
        </p:txBody>
      </p:sp>
      <p:sp>
        <p:nvSpPr>
          <p:cNvPr id="6" name="trade-structure">
            <a:extLst xmlns:a="http://schemas.openxmlformats.org/drawingml/2006/main">
              <a:ext uri="{FF2B5EF4-FFF2-40B4-BE49-F238E27FC236}">
                <a16:creationId xmlns:a16="http://schemas.microsoft.com/office/drawing/2014/main" id="{28030ACB-9296-404B-9A1B-F36D2B40FB17}"/>
              </a:ext>
            </a:extLst>
          </p:cNvPr>
          <p:cNvSpPr>
            <a:spLocks xmlns:a="http://schemas.openxmlformats.org/drawingml/2006/main" noGrp="1"/>
          </p:cNvSpPr>
          <p:nvPr/>
        </p:nvSpPr>
        <p:spPr>
          <a:xfrm xmlns:a="http://schemas.openxmlformats.org/drawingml/2006/main">
            <a:off x="533400" y="23050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0B1220"/>
                </a:solidFill>
              </a:defRPr>
            </a:pPr>
            <a:r>
              <a:rPr sz="1650" b="1">
                <a:solidFill>
                  <a:srgbClr val="0B1220"/>
                </a:solidFill>
              </a:rPr>
              <a:t>SEP 4  ·  398 / 391 BEAR-PUT SPREAD</a:t>
            </a:r>
          </a:p>
        </p:txBody>
      </p:sp>
      <p:sp>
        <p:nvSpPr>
          <p:cNvPr id="7" name="trade-leg-1">
            <a:extLst xmlns:a="http://schemas.openxmlformats.org/drawingml/2006/main">
              <a:ext uri="{FF2B5EF4-FFF2-40B4-BE49-F238E27FC236}">
                <a16:creationId xmlns:a16="http://schemas.microsoft.com/office/drawing/2014/main" id="{B1483402-AF70-4D59-820D-83D2F1A756E2}"/>
              </a:ext>
            </a:extLst>
          </p:cNvPr>
          <p:cNvSpPr>
            <a:spLocks xmlns:a="http://schemas.openxmlformats.org/drawingml/2006/main" noGrp="1"/>
          </p:cNvSpPr>
          <p:nvPr/>
        </p:nvSpPr>
        <p:spPr>
          <a:xfrm xmlns:a="http://schemas.openxmlformats.org/drawingml/2006/main">
            <a:off x="533400" y="30099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875" b="1">
                <a:solidFill>
                  <a:srgbClr val="0B1220"/>
                </a:solidFill>
              </a:defRPr>
            </a:pPr>
            <a:r>
              <a:rPr sz="1875" b="1">
                <a:solidFill>
                  <a:srgbClr val="0B1220"/>
                </a:solidFill>
              </a:rPr>
              <a:t>BUY   1 × 398 PUT</a:t>
            </a:r>
          </a:p>
        </p:txBody>
      </p:sp>
      <p:sp>
        <p:nvSpPr>
          <p:cNvPr id="8" name="trade-leg-2">
            <a:extLst xmlns:a="http://schemas.openxmlformats.org/drawingml/2006/main">
              <a:ext uri="{FF2B5EF4-FFF2-40B4-BE49-F238E27FC236}">
                <a16:creationId xmlns:a16="http://schemas.microsoft.com/office/drawing/2014/main" id="{BAAD1211-7D97-414C-A42A-4DD690548D1C}"/>
              </a:ext>
            </a:extLst>
          </p:cNvPr>
          <p:cNvSpPr>
            <a:spLocks xmlns:a="http://schemas.openxmlformats.org/drawingml/2006/main" noGrp="1"/>
          </p:cNvSpPr>
          <p:nvPr/>
        </p:nvSpPr>
        <p:spPr>
          <a:xfrm xmlns:a="http://schemas.openxmlformats.org/drawingml/2006/main">
            <a:off x="533400" y="34861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875" b="1">
                <a:solidFill>
                  <a:srgbClr val="0B1220"/>
                </a:solidFill>
              </a:defRPr>
            </a:pPr>
            <a:r>
              <a:rPr sz="1875" b="1">
                <a:solidFill>
                  <a:srgbClr val="0B1220"/>
                </a:solidFill>
              </a:rPr>
              <a:t>SELL  1 × 391 PUT</a:t>
            </a:r>
          </a:p>
        </p:txBody>
      </p:sp>
      <p:sp>
        <p:nvSpPr>
          <p:cNvPr id="9" name="trade-economics">
            <a:extLst xmlns:a="http://schemas.openxmlformats.org/drawingml/2006/main">
              <a:ext uri="{FF2B5EF4-FFF2-40B4-BE49-F238E27FC236}">
                <a16:creationId xmlns:a16="http://schemas.microsoft.com/office/drawing/2014/main" id="{0DD94296-6575-4BA7-B711-7CB5EA733430}"/>
              </a:ext>
            </a:extLst>
          </p:cNvPr>
          <p:cNvSpPr>
            <a:spLocks xmlns:a="http://schemas.openxmlformats.org/drawingml/2006/main" noGrp="1"/>
          </p:cNvSpPr>
          <p:nvPr/>
        </p:nvSpPr>
        <p:spPr>
          <a:xfrm xmlns:a="http://schemas.openxmlformats.org/drawingml/2006/main">
            <a:off x="533400" y="4210050"/>
            <a:ext cx="4933950" cy="1409700"/>
          </a:xfrm>
          <a:prstGeom xmlns:a="http://schemas.openxmlformats.org/drawingml/2006/main" prst="roundRect">
            <a:avLst>
              <a:gd name="adj" fmla="val 8108"/>
            </a:avLst>
          </a:prstGeom>
          <a:solidFill xmlns:a="http://schemas.openxmlformats.org/drawingml/2006/main">
            <a:srgbClr val="D9EDFF"/>
          </a:solidFill>
          <a:ln xmlns:a="http://schemas.openxmlformats.org/drawingml/2006/main" w="9525">
            <a:solidFill>
              <a:srgbClr val="3D8DFF"/>
            </a:solidFill>
            <a:prstDash val="solid"/>
          </a:ln>
        </p:spPr>
      </p:sp>
      <p:sp>
        <p:nvSpPr>
          <p:cNvPr id="10" name="trade-limit">
            <a:extLst xmlns:a="http://schemas.openxmlformats.org/drawingml/2006/main">
              <a:ext uri="{FF2B5EF4-FFF2-40B4-BE49-F238E27FC236}">
                <a16:creationId xmlns:a16="http://schemas.microsoft.com/office/drawing/2014/main" id="{77C00FE4-1107-4BD3-A780-FEAA5DF73422}"/>
              </a:ext>
            </a:extLst>
          </p:cNvPr>
          <p:cNvSpPr>
            <a:spLocks xmlns:a="http://schemas.openxmlformats.org/drawingml/2006/main" noGrp="1"/>
          </p:cNvSpPr>
          <p:nvPr/>
        </p:nvSpPr>
        <p:spPr>
          <a:xfrm xmlns:a="http://schemas.openxmlformats.org/drawingml/2006/main">
            <a:off x="781050" y="44386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100" b="1">
                <a:solidFill>
                  <a:srgbClr val="0B1220"/>
                </a:solidFill>
              </a:defRPr>
            </a:pPr>
            <a:r>
              <a:rPr sz="2100" b="1">
                <a:solidFill>
                  <a:srgbClr val="0B1220"/>
                </a:solidFill>
              </a:rPr>
              <a:t>$1.82 limit</a:t>
            </a:r>
          </a:p>
        </p:txBody>
      </p:sp>
      <p:sp>
        <p:nvSpPr>
          <p:cNvPr id="11" name="trade-fill">
            <a:extLst xmlns:a="http://schemas.openxmlformats.org/drawingml/2006/main">
              <a:ext uri="{FF2B5EF4-FFF2-40B4-BE49-F238E27FC236}">
                <a16:creationId xmlns:a16="http://schemas.microsoft.com/office/drawing/2014/main" id="{1D50969B-5E34-4572-ACD3-6CFCBEFF1F01}"/>
              </a:ext>
            </a:extLst>
          </p:cNvPr>
          <p:cNvSpPr>
            <a:spLocks xmlns:a="http://schemas.openxmlformats.org/drawingml/2006/main" noGrp="1"/>
          </p:cNvSpPr>
          <p:nvPr/>
        </p:nvSpPr>
        <p:spPr>
          <a:xfrm xmlns:a="http://schemas.openxmlformats.org/drawingml/2006/main">
            <a:off x="2800350" y="44386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100" b="1">
                <a:solidFill>
                  <a:srgbClr val="19A974"/>
                </a:solidFill>
              </a:defRPr>
            </a:pPr>
            <a:r>
              <a:rPr sz="2100" b="1">
                <a:solidFill>
                  <a:srgbClr val="19A974"/>
                </a:solidFill>
              </a:rPr>
              <a:t>$1.79 fill</a:t>
            </a:r>
          </a:p>
        </p:txBody>
      </p:sp>
      <p:sp>
        <p:nvSpPr>
          <p:cNvPr id="12" name="trade-maxloss">
            <a:extLst xmlns:a="http://schemas.openxmlformats.org/drawingml/2006/main">
              <a:ext uri="{FF2B5EF4-FFF2-40B4-BE49-F238E27FC236}">
                <a16:creationId xmlns:a16="http://schemas.microsoft.com/office/drawing/2014/main" id="{B2A1BD9A-E42C-4246-B529-E5115AA80ABB}"/>
              </a:ext>
            </a:extLst>
          </p:cNvPr>
          <p:cNvSpPr>
            <a:spLocks xmlns:a="http://schemas.openxmlformats.org/drawingml/2006/main" noGrp="1"/>
          </p:cNvSpPr>
          <p:nvPr/>
        </p:nvSpPr>
        <p:spPr>
          <a:xfrm xmlns:a="http://schemas.openxmlformats.org/drawingml/2006/main">
            <a:off x="781050" y="5048250"/>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a:solidFill>
                  <a:srgbClr val="596579"/>
                </a:solidFill>
              </a:defRPr>
            </a:pPr>
            <a:r>
              <a:rPr sz="1350">
                <a:solidFill>
                  <a:srgbClr val="596579"/>
                </a:solidFill>
              </a:rPr>
              <a:t>$182 max loss  ·  $518 theoretical max expiration profit</a:t>
            </a:r>
          </a:p>
        </p:txBody>
      </p:sp>
      <p:sp>
        <p:nvSpPr>
          <p:cNvPr id="13" name="evidence-timeline-line">
            <a:extLst xmlns:a="http://schemas.openxmlformats.org/drawingml/2006/main">
              <a:ext uri="{FF2B5EF4-FFF2-40B4-BE49-F238E27FC236}">
                <a16:creationId xmlns:a16="http://schemas.microsoft.com/office/drawing/2014/main" id="{35B37C36-F424-4582-A746-53477E45889B}"/>
              </a:ext>
            </a:extLst>
          </p:cNvPr>
          <p:cNvSpPr>
            <a:spLocks xmlns:a="http://schemas.openxmlformats.org/drawingml/2006/main" noGrp="1"/>
          </p:cNvSpPr>
          <p:nvPr/>
        </p:nvSpPr>
        <p:spPr>
          <a:xfrm xmlns:a="http://schemas.openxmlformats.org/drawingml/2006/main">
            <a:off x="6734175" y="1981200"/>
            <a:ext cx="0" cy="3314700"/>
          </a:xfrm>
          <a:prstGeom xmlns:a="http://schemas.openxmlformats.org/drawingml/2006/main" prst="line">
            <a:avLst/>
          </a:prstGeom>
          <a:noFill xmlns:a="http://schemas.openxmlformats.org/drawingml/2006/main"/>
          <a:ln xmlns:a="http://schemas.openxmlformats.org/drawingml/2006/main" w="28575">
            <a:solidFill>
              <a:srgbClr val="CBD3DF"/>
            </a:solidFill>
            <a:prstDash val="solid"/>
          </a:ln>
        </p:spPr>
      </p:sp>
      <p:sp>
        <p:nvSpPr>
          <p:cNvPr id="14" name="evidence-dot-1">
            <a:extLst xmlns:a="http://schemas.openxmlformats.org/drawingml/2006/main">
              <a:ext uri="{FF2B5EF4-FFF2-40B4-BE49-F238E27FC236}">
                <a16:creationId xmlns:a16="http://schemas.microsoft.com/office/drawing/2014/main" id="{C210DEF5-3009-4810-9F2E-77A2457FA873}"/>
              </a:ext>
            </a:extLst>
          </p:cNvPr>
          <p:cNvSpPr>
            <a:spLocks xmlns:a="http://schemas.openxmlformats.org/drawingml/2006/main" noGrp="1"/>
          </p:cNvSpPr>
          <p:nvPr/>
        </p:nvSpPr>
        <p:spPr>
          <a:xfrm xmlns:a="http://schemas.openxmlformats.org/drawingml/2006/main">
            <a:off x="6572250" y="1847850"/>
            <a:ext cx="342900" cy="342900"/>
          </a:xfrm>
          <a:prstGeom xmlns:a="http://schemas.openxmlformats.org/drawingml/2006/main" prst="ellipse">
            <a:avLst/>
          </a:prstGeom>
          <a:solidFill xmlns:a="http://schemas.openxmlformats.org/drawingml/2006/main">
            <a:srgbClr val="D9EDFF"/>
          </a:solidFill>
          <a:ln xmlns:a="http://schemas.openxmlformats.org/drawingml/2006/main" w="19050">
            <a:solidFill>
              <a:srgbClr val="3D8DFF"/>
            </a:solidFill>
            <a:prstDash val="solid"/>
          </a:ln>
        </p:spPr>
      </p:sp>
      <p:sp>
        <p:nvSpPr>
          <p:cNvPr id="15" name="evidence-n-1">
            <a:extLst xmlns:a="http://schemas.openxmlformats.org/drawingml/2006/main">
              <a:ext uri="{FF2B5EF4-FFF2-40B4-BE49-F238E27FC236}">
                <a16:creationId xmlns:a16="http://schemas.microsoft.com/office/drawing/2014/main" id="{C11E42BE-A503-4BB1-8C9F-4F4980BDF9D1}"/>
              </a:ext>
            </a:extLst>
          </p:cNvPr>
          <p:cNvSpPr>
            <a:spLocks xmlns:a="http://schemas.openxmlformats.org/drawingml/2006/main" noGrp="1"/>
          </p:cNvSpPr>
          <p:nvPr/>
        </p:nvSpPr>
        <p:spPr>
          <a:xfrm xmlns:a="http://schemas.openxmlformats.org/drawingml/2006/main">
            <a:off x="6667500" y="19145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3D8DFF"/>
                </a:solidFill>
              </a:defRPr>
            </a:pPr>
            <a:r>
              <a:rPr sz="1050" b="1">
                <a:solidFill>
                  <a:srgbClr val="3D8DFF"/>
                </a:solidFill>
              </a:rPr>
              <a:t>1</a:t>
            </a:r>
          </a:p>
        </p:txBody>
      </p:sp>
      <p:sp>
        <p:nvSpPr>
          <p:cNvPr id="16" name="evidence-label-1">
            <a:extLst xmlns:a="http://schemas.openxmlformats.org/drawingml/2006/main">
              <a:ext uri="{FF2B5EF4-FFF2-40B4-BE49-F238E27FC236}">
                <a16:creationId xmlns:a16="http://schemas.microsoft.com/office/drawing/2014/main" id="{63DDD62A-8034-4C5A-90EA-923D0A5CCAF5}"/>
              </a:ext>
            </a:extLst>
          </p:cNvPr>
          <p:cNvSpPr>
            <a:spLocks xmlns:a="http://schemas.openxmlformats.org/drawingml/2006/main" noGrp="1"/>
          </p:cNvSpPr>
          <p:nvPr/>
        </p:nvSpPr>
        <p:spPr>
          <a:xfrm xmlns:a="http://schemas.openxmlformats.org/drawingml/2006/main">
            <a:off x="7124700" y="18288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B1220"/>
                </a:solidFill>
              </a:defRPr>
            </a:pPr>
            <a:r>
              <a:rPr sz="1500" b="1">
                <a:solidFill>
                  <a:srgbClr val="0B1220"/>
                </a:solidFill>
              </a:rPr>
              <a:t>Six signal checks</a:t>
            </a:r>
          </a:p>
        </p:txBody>
      </p:sp>
      <p:sp>
        <p:nvSpPr>
          <p:cNvPr id="17" name="evidence-detail-1">
            <a:extLst xmlns:a="http://schemas.openxmlformats.org/drawingml/2006/main">
              <a:ext uri="{FF2B5EF4-FFF2-40B4-BE49-F238E27FC236}">
                <a16:creationId xmlns:a16="http://schemas.microsoft.com/office/drawing/2014/main" id="{5A22B369-C9CA-409B-8286-D1DA21EF5809}"/>
              </a:ext>
            </a:extLst>
          </p:cNvPr>
          <p:cNvSpPr>
            <a:spLocks xmlns:a="http://schemas.openxmlformats.org/drawingml/2006/main" noGrp="1"/>
          </p:cNvSpPr>
          <p:nvPr/>
        </p:nvSpPr>
        <p:spPr>
          <a:xfrm xmlns:a="http://schemas.openxmlformats.org/drawingml/2006/main">
            <a:off x="7124700" y="212407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Fresh GLD candidate ranked first</a:t>
            </a:r>
          </a:p>
        </p:txBody>
      </p:sp>
      <p:sp>
        <p:nvSpPr>
          <p:cNvPr id="18" name="evidence-dot-2">
            <a:extLst xmlns:a="http://schemas.openxmlformats.org/drawingml/2006/main">
              <a:ext uri="{FF2B5EF4-FFF2-40B4-BE49-F238E27FC236}">
                <a16:creationId xmlns:a16="http://schemas.microsoft.com/office/drawing/2014/main" id="{97D82843-DBC3-4569-92D9-335FE84A5B9D}"/>
              </a:ext>
            </a:extLst>
          </p:cNvPr>
          <p:cNvSpPr>
            <a:spLocks xmlns:a="http://schemas.openxmlformats.org/drawingml/2006/main" noGrp="1"/>
          </p:cNvSpPr>
          <p:nvPr/>
        </p:nvSpPr>
        <p:spPr>
          <a:xfrm xmlns:a="http://schemas.openxmlformats.org/drawingml/2006/main">
            <a:off x="6572250" y="2590800"/>
            <a:ext cx="342900" cy="342900"/>
          </a:xfrm>
          <a:prstGeom xmlns:a="http://schemas.openxmlformats.org/drawingml/2006/main" prst="ellipse">
            <a:avLst/>
          </a:prstGeom>
          <a:solidFill xmlns:a="http://schemas.openxmlformats.org/drawingml/2006/main">
            <a:srgbClr val="D9EDFF"/>
          </a:solidFill>
          <a:ln xmlns:a="http://schemas.openxmlformats.org/drawingml/2006/main" w="19050">
            <a:solidFill>
              <a:srgbClr val="3D8DFF"/>
            </a:solidFill>
            <a:prstDash val="solid"/>
          </a:ln>
        </p:spPr>
      </p:sp>
      <p:sp>
        <p:nvSpPr>
          <p:cNvPr id="19" name="evidence-n-2">
            <a:extLst xmlns:a="http://schemas.openxmlformats.org/drawingml/2006/main">
              <a:ext uri="{FF2B5EF4-FFF2-40B4-BE49-F238E27FC236}">
                <a16:creationId xmlns:a16="http://schemas.microsoft.com/office/drawing/2014/main" id="{FEFAE4C3-9840-4543-B3EA-A9B9B65D503F}"/>
              </a:ext>
            </a:extLst>
          </p:cNvPr>
          <p:cNvSpPr>
            <a:spLocks xmlns:a="http://schemas.openxmlformats.org/drawingml/2006/main" noGrp="1"/>
          </p:cNvSpPr>
          <p:nvPr/>
        </p:nvSpPr>
        <p:spPr>
          <a:xfrm xmlns:a="http://schemas.openxmlformats.org/drawingml/2006/main">
            <a:off x="6667500" y="26574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3D8DFF"/>
                </a:solidFill>
              </a:defRPr>
            </a:pPr>
            <a:r>
              <a:rPr sz="1050" b="1">
                <a:solidFill>
                  <a:srgbClr val="3D8DFF"/>
                </a:solidFill>
              </a:rPr>
              <a:t>2</a:t>
            </a:r>
          </a:p>
        </p:txBody>
      </p:sp>
      <p:sp>
        <p:nvSpPr>
          <p:cNvPr id="20" name="evidence-label-2">
            <a:extLst xmlns:a="http://schemas.openxmlformats.org/drawingml/2006/main">
              <a:ext uri="{FF2B5EF4-FFF2-40B4-BE49-F238E27FC236}">
                <a16:creationId xmlns:a16="http://schemas.microsoft.com/office/drawing/2014/main" id="{002CD9AB-2F68-4E1A-88BE-3FA66266C75B}"/>
              </a:ext>
            </a:extLst>
          </p:cNvPr>
          <p:cNvSpPr>
            <a:spLocks xmlns:a="http://schemas.openxmlformats.org/drawingml/2006/main" noGrp="1"/>
          </p:cNvSpPr>
          <p:nvPr/>
        </p:nvSpPr>
        <p:spPr>
          <a:xfrm xmlns:a="http://schemas.openxmlformats.org/drawingml/2006/main">
            <a:off x="7124700" y="25717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B1220"/>
                </a:solidFill>
              </a:defRPr>
            </a:pPr>
            <a:r>
              <a:rPr sz="1500" b="1">
                <a:solidFill>
                  <a:srgbClr val="0B1220"/>
                </a:solidFill>
              </a:rPr>
              <a:t>Council + 13/13 gates</a:t>
            </a:r>
          </a:p>
        </p:txBody>
      </p:sp>
      <p:sp>
        <p:nvSpPr>
          <p:cNvPr id="21" name="evidence-detail-2">
            <a:extLst xmlns:a="http://schemas.openxmlformats.org/drawingml/2006/main">
              <a:ext uri="{FF2B5EF4-FFF2-40B4-BE49-F238E27FC236}">
                <a16:creationId xmlns:a16="http://schemas.microsoft.com/office/drawing/2014/main" id="{CB6CCC07-1D87-4B05-BAE5-38A7B62696C0}"/>
              </a:ext>
            </a:extLst>
          </p:cNvPr>
          <p:cNvSpPr>
            <a:spLocks xmlns:a="http://schemas.openxmlformats.org/drawingml/2006/main" noGrp="1"/>
          </p:cNvSpPr>
          <p:nvPr/>
        </p:nvSpPr>
        <p:spPr>
          <a:xfrm xmlns:a="http://schemas.openxmlformats.org/drawingml/2006/main">
            <a:off x="7124700" y="286702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Red Team issued no veto</a:t>
            </a:r>
          </a:p>
        </p:txBody>
      </p:sp>
      <p:sp>
        <p:nvSpPr>
          <p:cNvPr id="22" name="evidence-dot-3">
            <a:extLst xmlns:a="http://schemas.openxmlformats.org/drawingml/2006/main">
              <a:ext uri="{FF2B5EF4-FFF2-40B4-BE49-F238E27FC236}">
                <a16:creationId xmlns:a16="http://schemas.microsoft.com/office/drawing/2014/main" id="{037B13F6-2857-45FF-8F9E-D0DA89D104BD}"/>
              </a:ext>
            </a:extLst>
          </p:cNvPr>
          <p:cNvSpPr>
            <a:spLocks xmlns:a="http://schemas.openxmlformats.org/drawingml/2006/main" noGrp="1"/>
          </p:cNvSpPr>
          <p:nvPr/>
        </p:nvSpPr>
        <p:spPr>
          <a:xfrm xmlns:a="http://schemas.openxmlformats.org/drawingml/2006/main">
            <a:off x="6572250" y="3333750"/>
            <a:ext cx="342900" cy="342900"/>
          </a:xfrm>
          <a:prstGeom xmlns:a="http://schemas.openxmlformats.org/drawingml/2006/main" prst="ellipse">
            <a:avLst/>
          </a:prstGeom>
          <a:solidFill xmlns:a="http://schemas.openxmlformats.org/drawingml/2006/main">
            <a:srgbClr val="D9EDFF"/>
          </a:solidFill>
          <a:ln xmlns:a="http://schemas.openxmlformats.org/drawingml/2006/main" w="19050">
            <a:solidFill>
              <a:srgbClr val="3D8DFF"/>
            </a:solidFill>
            <a:prstDash val="solid"/>
          </a:ln>
        </p:spPr>
      </p:sp>
      <p:sp>
        <p:nvSpPr>
          <p:cNvPr id="23" name="evidence-n-3">
            <a:extLst xmlns:a="http://schemas.openxmlformats.org/drawingml/2006/main">
              <a:ext uri="{FF2B5EF4-FFF2-40B4-BE49-F238E27FC236}">
                <a16:creationId xmlns:a16="http://schemas.microsoft.com/office/drawing/2014/main" id="{32B229DF-0DA8-4A61-9645-A7152704BB7F}"/>
              </a:ext>
            </a:extLst>
          </p:cNvPr>
          <p:cNvSpPr>
            <a:spLocks xmlns:a="http://schemas.openxmlformats.org/drawingml/2006/main" noGrp="1"/>
          </p:cNvSpPr>
          <p:nvPr/>
        </p:nvSpPr>
        <p:spPr>
          <a:xfrm xmlns:a="http://schemas.openxmlformats.org/drawingml/2006/main">
            <a:off x="6667500" y="34004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3D8DFF"/>
                </a:solidFill>
              </a:defRPr>
            </a:pPr>
            <a:r>
              <a:rPr sz="1050" b="1">
                <a:solidFill>
                  <a:srgbClr val="3D8DFF"/>
                </a:solidFill>
              </a:rPr>
              <a:t>3</a:t>
            </a:r>
          </a:p>
        </p:txBody>
      </p:sp>
      <p:sp>
        <p:nvSpPr>
          <p:cNvPr id="24" name="evidence-label-3">
            <a:extLst xmlns:a="http://schemas.openxmlformats.org/drawingml/2006/main">
              <a:ext uri="{FF2B5EF4-FFF2-40B4-BE49-F238E27FC236}">
                <a16:creationId xmlns:a16="http://schemas.microsoft.com/office/drawing/2014/main" id="{039BF957-286B-4F36-824D-F2EE134D0108}"/>
              </a:ext>
            </a:extLst>
          </p:cNvPr>
          <p:cNvSpPr>
            <a:spLocks xmlns:a="http://schemas.openxmlformats.org/drawingml/2006/main" noGrp="1"/>
          </p:cNvSpPr>
          <p:nvPr/>
        </p:nvSpPr>
        <p:spPr>
          <a:xfrm xmlns:a="http://schemas.openxmlformats.org/drawingml/2006/main">
            <a:off x="7124700" y="33147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B1220"/>
                </a:solidFill>
              </a:defRPr>
            </a:pPr>
            <a:r>
              <a:rPr sz="1500" b="1">
                <a:solidFill>
                  <a:srgbClr val="0B1220"/>
                </a:solidFill>
              </a:rPr>
              <a:t>Atomic Alpaca dry run</a:t>
            </a:r>
          </a:p>
        </p:txBody>
      </p:sp>
      <p:sp>
        <p:nvSpPr>
          <p:cNvPr id="25" name="evidence-detail-3">
            <a:extLst xmlns:a="http://schemas.openxmlformats.org/drawingml/2006/main">
              <a:ext uri="{FF2B5EF4-FFF2-40B4-BE49-F238E27FC236}">
                <a16:creationId xmlns:a16="http://schemas.microsoft.com/office/drawing/2014/main" id="{ABA3731D-4B6D-4C0E-BF5A-0A730F50517B}"/>
              </a:ext>
            </a:extLst>
          </p:cNvPr>
          <p:cNvSpPr>
            <a:spLocks xmlns:a="http://schemas.openxmlformats.org/drawingml/2006/main" noGrp="1"/>
          </p:cNvSpPr>
          <p:nvPr/>
        </p:nvSpPr>
        <p:spPr>
          <a:xfrm xmlns:a="http://schemas.openxmlformats.org/drawingml/2006/main">
            <a:off x="7124700" y="360997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Same legs, quantity, and limit</a:t>
            </a:r>
          </a:p>
        </p:txBody>
      </p:sp>
      <p:sp>
        <p:nvSpPr>
          <p:cNvPr id="26" name="evidence-dot-4">
            <a:extLst xmlns:a="http://schemas.openxmlformats.org/drawingml/2006/main">
              <a:ext uri="{FF2B5EF4-FFF2-40B4-BE49-F238E27FC236}">
                <a16:creationId xmlns:a16="http://schemas.microsoft.com/office/drawing/2014/main" id="{14276A34-EFEA-4325-AC0A-E4D3B1DD64C3}"/>
              </a:ext>
            </a:extLst>
          </p:cNvPr>
          <p:cNvSpPr>
            <a:spLocks xmlns:a="http://schemas.openxmlformats.org/drawingml/2006/main" noGrp="1"/>
          </p:cNvSpPr>
          <p:nvPr/>
        </p:nvSpPr>
        <p:spPr>
          <a:xfrm xmlns:a="http://schemas.openxmlformats.org/drawingml/2006/main">
            <a:off x="6572250" y="4076700"/>
            <a:ext cx="342900" cy="342900"/>
          </a:xfrm>
          <a:prstGeom xmlns:a="http://schemas.openxmlformats.org/drawingml/2006/main" prst="ellipse">
            <a:avLst/>
          </a:prstGeom>
          <a:solidFill xmlns:a="http://schemas.openxmlformats.org/drawingml/2006/main">
            <a:srgbClr val="D9EDFF"/>
          </a:solidFill>
          <a:ln xmlns:a="http://schemas.openxmlformats.org/drawingml/2006/main" w="19050">
            <a:solidFill>
              <a:srgbClr val="3D8DFF"/>
            </a:solidFill>
            <a:prstDash val="solid"/>
          </a:ln>
        </p:spPr>
      </p:sp>
      <p:sp>
        <p:nvSpPr>
          <p:cNvPr id="27" name="evidence-n-4">
            <a:extLst xmlns:a="http://schemas.openxmlformats.org/drawingml/2006/main">
              <a:ext uri="{FF2B5EF4-FFF2-40B4-BE49-F238E27FC236}">
                <a16:creationId xmlns:a16="http://schemas.microsoft.com/office/drawing/2014/main" id="{A03D4C1A-B21E-4C7E-8F3D-FE572A9EA40F}"/>
              </a:ext>
            </a:extLst>
          </p:cNvPr>
          <p:cNvSpPr>
            <a:spLocks xmlns:a="http://schemas.openxmlformats.org/drawingml/2006/main" noGrp="1"/>
          </p:cNvSpPr>
          <p:nvPr/>
        </p:nvSpPr>
        <p:spPr>
          <a:xfrm xmlns:a="http://schemas.openxmlformats.org/drawingml/2006/main">
            <a:off x="6667500" y="41433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3D8DFF"/>
                </a:solidFill>
              </a:defRPr>
            </a:pPr>
            <a:r>
              <a:rPr sz="1050" b="1">
                <a:solidFill>
                  <a:srgbClr val="3D8DFF"/>
                </a:solidFill>
              </a:rPr>
              <a:t>4</a:t>
            </a:r>
          </a:p>
        </p:txBody>
      </p:sp>
      <p:sp>
        <p:nvSpPr>
          <p:cNvPr id="28" name="evidence-label-4">
            <a:extLst xmlns:a="http://schemas.openxmlformats.org/drawingml/2006/main">
              <a:ext uri="{FF2B5EF4-FFF2-40B4-BE49-F238E27FC236}">
                <a16:creationId xmlns:a16="http://schemas.microsoft.com/office/drawing/2014/main" id="{DBC4F3D6-3F29-4FDD-B642-1DF492522032}"/>
              </a:ext>
            </a:extLst>
          </p:cNvPr>
          <p:cNvSpPr>
            <a:spLocks xmlns:a="http://schemas.openxmlformats.org/drawingml/2006/main" noGrp="1"/>
          </p:cNvSpPr>
          <p:nvPr/>
        </p:nvSpPr>
        <p:spPr>
          <a:xfrm xmlns:a="http://schemas.openxmlformats.org/drawingml/2006/main">
            <a:off x="7124700" y="40576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B1220"/>
                </a:solidFill>
              </a:defRPr>
            </a:pPr>
            <a:r>
              <a:rPr sz="1500" b="1">
                <a:solidFill>
                  <a:srgbClr val="0B1220"/>
                </a:solidFill>
              </a:rPr>
              <a:t>Paper fill + reconciliation</a:t>
            </a:r>
          </a:p>
        </p:txBody>
      </p:sp>
      <p:sp>
        <p:nvSpPr>
          <p:cNvPr id="29" name="evidence-detail-4">
            <a:extLst xmlns:a="http://schemas.openxmlformats.org/drawingml/2006/main">
              <a:ext uri="{FF2B5EF4-FFF2-40B4-BE49-F238E27FC236}">
                <a16:creationId xmlns:a16="http://schemas.microsoft.com/office/drawing/2014/main" id="{DB318EDA-F6C6-468D-BC7E-9C582A64D8B5}"/>
              </a:ext>
            </a:extLst>
          </p:cNvPr>
          <p:cNvSpPr>
            <a:spLocks xmlns:a="http://schemas.openxmlformats.org/drawingml/2006/main" noGrp="1"/>
          </p:cNvSpPr>
          <p:nvPr/>
        </p:nvSpPr>
        <p:spPr>
          <a:xfrm xmlns:a="http://schemas.openxmlformats.org/drawingml/2006/main">
            <a:off x="7124700" y="435292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Both broker legs matched</a:t>
            </a:r>
          </a:p>
        </p:txBody>
      </p:sp>
      <p:sp>
        <p:nvSpPr>
          <p:cNvPr id="30" name="evidence-dot-5">
            <a:extLst xmlns:a="http://schemas.openxmlformats.org/drawingml/2006/main">
              <a:ext uri="{FF2B5EF4-FFF2-40B4-BE49-F238E27FC236}">
                <a16:creationId xmlns:a16="http://schemas.microsoft.com/office/drawing/2014/main" id="{4F6382FA-59F6-41C7-B7FD-98AC075B596E}"/>
              </a:ext>
            </a:extLst>
          </p:cNvPr>
          <p:cNvSpPr>
            <a:spLocks xmlns:a="http://schemas.openxmlformats.org/drawingml/2006/main" noGrp="1"/>
          </p:cNvSpPr>
          <p:nvPr/>
        </p:nvSpPr>
        <p:spPr>
          <a:xfrm xmlns:a="http://schemas.openxmlformats.org/drawingml/2006/main">
            <a:off x="6572250" y="4819650"/>
            <a:ext cx="342900" cy="342900"/>
          </a:xfrm>
          <a:prstGeom xmlns:a="http://schemas.openxmlformats.org/drawingml/2006/main" prst="ellipse">
            <a:avLst/>
          </a:prstGeom>
          <a:solidFill xmlns:a="http://schemas.openxmlformats.org/drawingml/2006/main">
            <a:srgbClr val="DDF6EC"/>
          </a:solidFill>
          <a:ln xmlns:a="http://schemas.openxmlformats.org/drawingml/2006/main" w="19050">
            <a:solidFill>
              <a:srgbClr val="19A974"/>
            </a:solidFill>
            <a:prstDash val="solid"/>
          </a:ln>
        </p:spPr>
      </p:sp>
      <p:sp>
        <p:nvSpPr>
          <p:cNvPr id="31" name="evidence-n-5">
            <a:extLst xmlns:a="http://schemas.openxmlformats.org/drawingml/2006/main">
              <a:ext uri="{FF2B5EF4-FFF2-40B4-BE49-F238E27FC236}">
                <a16:creationId xmlns:a16="http://schemas.microsoft.com/office/drawing/2014/main" id="{F3F94AC9-073B-42C0-888E-3C95DA7C3517}"/>
              </a:ext>
            </a:extLst>
          </p:cNvPr>
          <p:cNvSpPr>
            <a:spLocks xmlns:a="http://schemas.openxmlformats.org/drawingml/2006/main" noGrp="1"/>
          </p:cNvSpPr>
          <p:nvPr/>
        </p:nvSpPr>
        <p:spPr>
          <a:xfrm xmlns:a="http://schemas.openxmlformats.org/drawingml/2006/main">
            <a:off x="6667500" y="48863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19A974"/>
                </a:solidFill>
              </a:defRPr>
            </a:pPr>
            <a:r>
              <a:rPr sz="1050" b="1">
                <a:solidFill>
                  <a:srgbClr val="19A974"/>
                </a:solidFill>
              </a:rPr>
              <a:t>5</a:t>
            </a:r>
          </a:p>
        </p:txBody>
      </p:sp>
      <p:sp>
        <p:nvSpPr>
          <p:cNvPr id="32" name="evidence-label-5">
            <a:extLst xmlns:a="http://schemas.openxmlformats.org/drawingml/2006/main">
              <a:ext uri="{FF2B5EF4-FFF2-40B4-BE49-F238E27FC236}">
                <a16:creationId xmlns:a16="http://schemas.microsoft.com/office/drawing/2014/main" id="{64A5F6A0-2EDA-4662-97F0-497263C7872F}"/>
              </a:ext>
            </a:extLst>
          </p:cNvPr>
          <p:cNvSpPr>
            <a:spLocks xmlns:a="http://schemas.openxmlformats.org/drawingml/2006/main" noGrp="1"/>
          </p:cNvSpPr>
          <p:nvPr/>
        </p:nvSpPr>
        <p:spPr>
          <a:xfrm xmlns:a="http://schemas.openxmlformats.org/drawingml/2006/main">
            <a:off x="7124700" y="48006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B1220"/>
                </a:solidFill>
              </a:defRPr>
            </a:pPr>
            <a:r>
              <a:rPr sz="1500" b="1">
                <a:solidFill>
                  <a:srgbClr val="0B1220"/>
                </a:solidFill>
              </a:rPr>
              <a:t>Automated HOLD</a:t>
            </a:r>
          </a:p>
        </p:txBody>
      </p:sp>
      <p:sp>
        <p:nvSpPr>
          <p:cNvPr id="33" name="evidence-detail-5">
            <a:extLst xmlns:a="http://schemas.openxmlformats.org/drawingml/2006/main">
              <a:ext uri="{FF2B5EF4-FFF2-40B4-BE49-F238E27FC236}">
                <a16:creationId xmlns:a16="http://schemas.microsoft.com/office/drawing/2014/main" id="{31F39189-FCD6-4F10-8C01-32AFE7272012}"/>
              </a:ext>
            </a:extLst>
          </p:cNvPr>
          <p:cNvSpPr>
            <a:spLocks xmlns:a="http://schemas.openxmlformats.org/drawingml/2006/main" noGrp="1"/>
          </p:cNvSpPr>
          <p:nvPr/>
        </p:nvSpPr>
        <p:spPr>
          <a:xfrm xmlns:a="http://schemas.openxmlformats.org/drawingml/2006/main">
            <a:off x="7124700" y="509587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No exit threshold reached</a:t>
            </a:r>
          </a:p>
        </p:txBody>
      </p:sp>
    </p:spTree>
    <p:extLst>
      <p:ext uri="{BB962C8B-B14F-4D97-AF65-F5344CB8AC3E}">
        <p14:creationId xmlns:p14="http://schemas.microsoft.com/office/powerpoint/2010/main" val="9638972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5-eyebrow">
            <a:extLst xmlns:a="http://schemas.openxmlformats.org/drawingml/2006/main">
              <a:ext uri="{FF2B5EF4-FFF2-40B4-BE49-F238E27FC236}">
                <a16:creationId xmlns:a16="http://schemas.microsoft.com/office/drawing/2014/main" id="{3D496E33-4DF5-4EF8-90FB-821F9860C2C4}"/>
              </a:ext>
            </a:extLst>
          </p:cNvPr>
          <p:cNvSpPr>
            <a:spLocks xmlns:a="http://schemas.openxmlformats.org/drawingml/2006/main" noGrp="1"/>
          </p:cNvSpPr>
          <p:nvPr/>
        </p:nvSpPr>
        <p:spPr>
          <a:xfrm xmlns:a="http://schemas.openxmlformats.org/drawingml/2006/main">
            <a:off x="533400" y="323850"/>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VOLGUARD AI  /  ALPACA PAPER OPTIONS</a:t>
            </a:r>
          </a:p>
        </p:txBody>
      </p:sp>
      <p:sp>
        <p:nvSpPr>
          <p:cNvPr id="2" name="slide-5-title">
            <a:extLst xmlns:a="http://schemas.openxmlformats.org/drawingml/2006/main">
              <a:ext uri="{FF2B5EF4-FFF2-40B4-BE49-F238E27FC236}">
                <a16:creationId xmlns:a16="http://schemas.microsoft.com/office/drawing/2014/main" id="{21AA48B2-9B5E-4A22-A266-A19297E62061}"/>
              </a:ext>
            </a:extLst>
          </p:cNvPr>
          <p:cNvSpPr>
            <a:spLocks xmlns:a="http://schemas.openxmlformats.org/drawingml/2006/main" noGrp="1"/>
          </p:cNvSpPr>
          <p:nvPr/>
        </p:nvSpPr>
        <p:spPr>
          <a:xfrm xmlns:a="http://schemas.openxmlformats.org/drawingml/2006/main">
            <a:off x="533400" y="68580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3150" b="1">
                <a:solidFill>
                  <a:srgbClr val="0B1220"/>
                </a:solidFill>
              </a:defRPr>
            </a:pPr>
            <a:r>
              <a:rPr sz="3150" b="1">
                <a:solidFill>
                  <a:srgbClr val="0B1220"/>
                </a:solidFill>
              </a:rPr>
              <a:t>Automation never broadens trading authority</a:t>
            </a:r>
          </a:p>
        </p:txBody>
      </p:sp>
      <p:sp>
        <p:nvSpPr>
          <p:cNvPr id="3" name="slide-5-rule">
            <a:extLst xmlns:a="http://schemas.openxmlformats.org/drawingml/2006/main">
              <a:ext uri="{FF2B5EF4-FFF2-40B4-BE49-F238E27FC236}">
                <a16:creationId xmlns:a16="http://schemas.microsoft.com/office/drawing/2014/main" id="{FE25E55A-E72B-4836-B235-012E433597AE}"/>
              </a:ext>
            </a:extLst>
          </p:cNvPr>
          <p:cNvSpPr>
            <a:spLocks xmlns:a="http://schemas.openxmlformats.org/drawingml/2006/main" noGrp="1"/>
          </p:cNvSpPr>
          <p:nvPr/>
        </p:nvSpPr>
        <p:spPr>
          <a:xfrm xmlns:a="http://schemas.openxmlformats.org/drawingml/2006/main">
            <a:off x="533400" y="6286500"/>
            <a:ext cx="11125200" cy="0"/>
          </a:xfrm>
          <a:prstGeom xmlns:a="http://schemas.openxmlformats.org/drawingml/2006/main" prst="line">
            <a:avLst/>
          </a:prstGeom>
          <a:noFill xmlns:a="http://schemas.openxmlformats.org/drawingml/2006/main"/>
          <a:ln xmlns:a="http://schemas.openxmlformats.org/drawingml/2006/main" w="9525">
            <a:solidFill>
              <a:srgbClr val="CBD3DF"/>
            </a:solidFill>
            <a:prstDash val="solid"/>
          </a:ln>
        </p:spPr>
      </p:sp>
      <p:sp>
        <p:nvSpPr>
          <p:cNvPr id="4" name="slide-5-number">
            <a:extLst xmlns:a="http://schemas.openxmlformats.org/drawingml/2006/main">
              <a:ext uri="{FF2B5EF4-FFF2-40B4-BE49-F238E27FC236}">
                <a16:creationId xmlns:a16="http://schemas.microsoft.com/office/drawing/2014/main" id="{34B52682-7EE4-485C-8DA4-95948C7D3405}"/>
              </a:ext>
            </a:extLst>
          </p:cNvPr>
          <p:cNvSpPr>
            <a:spLocks xmlns:a="http://schemas.openxmlformats.org/drawingml/2006/main" noGrp="1"/>
          </p:cNvSpPr>
          <p:nvPr/>
        </p:nvSpPr>
        <p:spPr>
          <a:xfrm xmlns:a="http://schemas.openxmlformats.org/drawingml/2006/main">
            <a:off x="11144250" y="63817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a:solidFill>
                  <a:srgbClr val="596579"/>
                </a:solidFill>
              </a:defRPr>
            </a:pPr>
            <a:r>
              <a:rPr sz="900">
                <a:solidFill>
                  <a:srgbClr val="596579"/>
                </a:solidFill>
              </a:rPr>
              <a:t>05</a:t>
            </a:r>
          </a:p>
        </p:txBody>
      </p:sp>
      <p:sp>
        <p:nvSpPr>
          <p:cNvPr id="5" name="arch-arrow-1">
            <a:extLst xmlns:a="http://schemas.openxmlformats.org/drawingml/2006/main">
              <a:ext uri="{FF2B5EF4-FFF2-40B4-BE49-F238E27FC236}">
                <a16:creationId xmlns:a16="http://schemas.microsoft.com/office/drawing/2014/main" id="{847A1C7F-4F4F-48F8-8308-50B84FD0EDF3}"/>
              </a:ext>
            </a:extLst>
          </p:cNvPr>
          <p:cNvSpPr>
            <a:spLocks xmlns:a="http://schemas.openxmlformats.org/drawingml/2006/main" noGrp="1"/>
          </p:cNvSpPr>
          <p:nvPr/>
        </p:nvSpPr>
        <p:spPr>
          <a:xfrm xmlns:a="http://schemas.openxmlformats.org/drawingml/2006/main">
            <a:off x="2533650" y="2781300"/>
            <a:ext cx="590550" cy="323850"/>
          </a:xfrm>
          <a:prstGeom xmlns:a="http://schemas.openxmlformats.org/drawingml/2006/main" prst="rightArrow">
            <a:avLst/>
          </a:prstGeom>
          <a:solidFill xmlns:a="http://schemas.openxmlformats.org/drawingml/2006/main">
            <a:srgbClr val="D9EDFF"/>
          </a:solidFill>
          <a:ln xmlns:a="http://schemas.openxmlformats.org/drawingml/2006/main" w="0">
            <a:solidFill>
              <a:srgbClr val="D9EDFF"/>
            </a:solidFill>
            <a:prstDash val="solid"/>
          </a:ln>
        </p:spPr>
      </p:sp>
      <p:sp>
        <p:nvSpPr>
          <p:cNvPr id="6" name="arch-arrow-2">
            <a:extLst xmlns:a="http://schemas.openxmlformats.org/drawingml/2006/main">
              <a:ext uri="{FF2B5EF4-FFF2-40B4-BE49-F238E27FC236}">
                <a16:creationId xmlns:a16="http://schemas.microsoft.com/office/drawing/2014/main" id="{4C33F737-1399-408F-B82F-091CF4EF8D17}"/>
              </a:ext>
            </a:extLst>
          </p:cNvPr>
          <p:cNvSpPr>
            <a:spLocks xmlns:a="http://schemas.openxmlformats.org/drawingml/2006/main" noGrp="1"/>
          </p:cNvSpPr>
          <p:nvPr/>
        </p:nvSpPr>
        <p:spPr>
          <a:xfrm xmlns:a="http://schemas.openxmlformats.org/drawingml/2006/main">
            <a:off x="5105400" y="2781300"/>
            <a:ext cx="590550" cy="323850"/>
          </a:xfrm>
          <a:prstGeom xmlns:a="http://schemas.openxmlformats.org/drawingml/2006/main" prst="rightArrow">
            <a:avLst/>
          </a:prstGeom>
          <a:solidFill xmlns:a="http://schemas.openxmlformats.org/drawingml/2006/main">
            <a:srgbClr val="D9EDFF"/>
          </a:solidFill>
          <a:ln xmlns:a="http://schemas.openxmlformats.org/drawingml/2006/main" w="0">
            <a:solidFill>
              <a:srgbClr val="D9EDFF"/>
            </a:solidFill>
            <a:prstDash val="solid"/>
          </a:ln>
        </p:spPr>
      </p:sp>
      <p:sp>
        <p:nvSpPr>
          <p:cNvPr id="7" name="arch-arrow-3">
            <a:extLst xmlns:a="http://schemas.openxmlformats.org/drawingml/2006/main">
              <a:ext uri="{FF2B5EF4-FFF2-40B4-BE49-F238E27FC236}">
                <a16:creationId xmlns:a16="http://schemas.microsoft.com/office/drawing/2014/main" id="{84AA2638-BBE6-4DCE-B1FA-910C6B8BF6C7}"/>
              </a:ext>
            </a:extLst>
          </p:cNvPr>
          <p:cNvSpPr>
            <a:spLocks xmlns:a="http://schemas.openxmlformats.org/drawingml/2006/main" noGrp="1"/>
          </p:cNvSpPr>
          <p:nvPr/>
        </p:nvSpPr>
        <p:spPr>
          <a:xfrm xmlns:a="http://schemas.openxmlformats.org/drawingml/2006/main">
            <a:off x="7677150" y="2781300"/>
            <a:ext cx="590550" cy="323850"/>
          </a:xfrm>
          <a:prstGeom xmlns:a="http://schemas.openxmlformats.org/drawingml/2006/main" prst="rightArrow">
            <a:avLst/>
          </a:prstGeom>
          <a:solidFill xmlns:a="http://schemas.openxmlformats.org/drawingml/2006/main">
            <a:srgbClr val="D9EDFF"/>
          </a:solidFill>
          <a:ln xmlns:a="http://schemas.openxmlformats.org/drawingml/2006/main" w="0">
            <a:solidFill>
              <a:srgbClr val="D9EDFF"/>
            </a:solidFill>
            <a:prstDash val="solid"/>
          </a:ln>
        </p:spPr>
      </p:sp>
      <p:sp>
        <p:nvSpPr>
          <p:cNvPr id="8" name="arch-node-1">
            <a:extLst xmlns:a="http://schemas.openxmlformats.org/drawingml/2006/main">
              <a:ext uri="{FF2B5EF4-FFF2-40B4-BE49-F238E27FC236}">
                <a16:creationId xmlns:a16="http://schemas.microsoft.com/office/drawing/2014/main" id="{360F82E7-3019-4AAC-95DD-7F59655D8764}"/>
              </a:ext>
            </a:extLst>
          </p:cNvPr>
          <p:cNvSpPr>
            <a:spLocks xmlns:a="http://schemas.openxmlformats.org/drawingml/2006/main" noGrp="1"/>
          </p:cNvSpPr>
          <p:nvPr/>
        </p:nvSpPr>
        <p:spPr>
          <a:xfrm xmlns:a="http://schemas.openxmlformats.org/drawingml/2006/main">
            <a:off x="533400" y="2114550"/>
            <a:ext cx="2038350" cy="1733550"/>
          </a:xfrm>
          <a:prstGeom xmlns:a="http://schemas.openxmlformats.org/drawingml/2006/main" prst="roundRect">
            <a:avLst>
              <a:gd name="adj" fmla="val 6593"/>
            </a:avLst>
          </a:prstGeom>
          <a:solidFill xmlns:a="http://schemas.openxmlformats.org/drawingml/2006/main">
            <a:srgbClr val="EEF2F6"/>
          </a:solidFill>
          <a:ln xmlns:a="http://schemas.openxmlformats.org/drawingml/2006/main" w="9525">
            <a:solidFill>
              <a:srgbClr val="CBD3DF"/>
            </a:solidFill>
            <a:prstDash val="solid"/>
          </a:ln>
        </p:spPr>
      </p:sp>
      <p:sp>
        <p:nvSpPr>
          <p:cNvPr id="9" name="arch-tag-1">
            <a:extLst xmlns:a="http://schemas.openxmlformats.org/drawingml/2006/main">
              <a:ext uri="{FF2B5EF4-FFF2-40B4-BE49-F238E27FC236}">
                <a16:creationId xmlns:a16="http://schemas.microsoft.com/office/drawing/2014/main" id="{DD57952B-705D-424A-B5BC-8F6AB3EA5DFA}"/>
              </a:ext>
            </a:extLst>
          </p:cNvPr>
          <p:cNvSpPr>
            <a:spLocks xmlns:a="http://schemas.openxmlformats.org/drawingml/2006/main" noGrp="1"/>
          </p:cNvSpPr>
          <p:nvPr/>
        </p:nvSpPr>
        <p:spPr>
          <a:xfrm xmlns:a="http://schemas.openxmlformats.org/drawingml/2006/main">
            <a:off x="723900" y="23241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ALPACA</a:t>
            </a:r>
          </a:p>
        </p:txBody>
      </p:sp>
      <p:sp>
        <p:nvSpPr>
          <p:cNvPr id="10" name="arch-label-1">
            <a:extLst xmlns:a="http://schemas.openxmlformats.org/drawingml/2006/main">
              <a:ext uri="{FF2B5EF4-FFF2-40B4-BE49-F238E27FC236}">
                <a16:creationId xmlns:a16="http://schemas.microsoft.com/office/drawing/2014/main" id="{A4E742A2-9848-453B-974C-71CEFCDEC79D}"/>
              </a:ext>
            </a:extLst>
          </p:cNvPr>
          <p:cNvSpPr>
            <a:spLocks xmlns:a="http://schemas.openxmlformats.org/drawingml/2006/main" noGrp="1"/>
          </p:cNvSpPr>
          <p:nvPr/>
        </p:nvSpPr>
        <p:spPr>
          <a:xfrm xmlns:a="http://schemas.openxmlformats.org/drawingml/2006/main">
            <a:off x="723900" y="27241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0B1220"/>
                </a:solidFill>
              </a:defRPr>
            </a:pPr>
            <a:r>
              <a:rPr sz="1650" b="1">
                <a:solidFill>
                  <a:srgbClr val="0B1220"/>
                </a:solidFill>
              </a:rPr>
              <a:t>Paper account</a:t>
            </a:r>
          </a:p>
        </p:txBody>
      </p:sp>
      <p:sp>
        <p:nvSpPr>
          <p:cNvPr id="11" name="arch-detail-1">
            <a:extLst xmlns:a="http://schemas.openxmlformats.org/drawingml/2006/main">
              <a:ext uri="{FF2B5EF4-FFF2-40B4-BE49-F238E27FC236}">
                <a16:creationId xmlns:a16="http://schemas.microsoft.com/office/drawing/2014/main" id="{E17A7780-B6B4-4BFF-A9D2-F2A1602F5B3D}"/>
              </a:ext>
            </a:extLst>
          </p:cNvPr>
          <p:cNvSpPr>
            <a:spLocks xmlns:a="http://schemas.openxmlformats.org/drawingml/2006/main" noGrp="1"/>
          </p:cNvSpPr>
          <p:nvPr/>
        </p:nvSpPr>
        <p:spPr>
          <a:xfrm xmlns:a="http://schemas.openxmlformats.org/drawingml/2006/main">
            <a:off x="723900" y="3219450"/>
            <a:ext cx="165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Trading + market data</a:t>
            </a:r>
          </a:p>
        </p:txBody>
      </p:sp>
      <p:sp>
        <p:nvSpPr>
          <p:cNvPr id="12" name="arch-node-2">
            <a:extLst xmlns:a="http://schemas.openxmlformats.org/drawingml/2006/main">
              <a:ext uri="{FF2B5EF4-FFF2-40B4-BE49-F238E27FC236}">
                <a16:creationId xmlns:a16="http://schemas.microsoft.com/office/drawing/2014/main" id="{2619AC4F-F821-4C94-9DF1-AA7A78C065E3}"/>
              </a:ext>
            </a:extLst>
          </p:cNvPr>
          <p:cNvSpPr>
            <a:spLocks xmlns:a="http://schemas.openxmlformats.org/drawingml/2006/main" noGrp="1"/>
          </p:cNvSpPr>
          <p:nvPr/>
        </p:nvSpPr>
        <p:spPr>
          <a:xfrm xmlns:a="http://schemas.openxmlformats.org/drawingml/2006/main">
            <a:off x="3105150" y="2114550"/>
            <a:ext cx="2038350" cy="1733550"/>
          </a:xfrm>
          <a:prstGeom xmlns:a="http://schemas.openxmlformats.org/drawingml/2006/main" prst="roundRect">
            <a:avLst>
              <a:gd name="adj" fmla="val 6593"/>
            </a:avLst>
          </a:prstGeom>
          <a:solidFill xmlns:a="http://schemas.openxmlformats.org/drawingml/2006/main">
            <a:srgbClr val="D9EDFF"/>
          </a:solidFill>
          <a:ln xmlns:a="http://schemas.openxmlformats.org/drawingml/2006/main" w="9525">
            <a:solidFill>
              <a:srgbClr val="3D8DFF"/>
            </a:solidFill>
            <a:prstDash val="solid"/>
          </a:ln>
        </p:spPr>
      </p:sp>
      <p:sp>
        <p:nvSpPr>
          <p:cNvPr id="13" name="arch-tag-2">
            <a:extLst xmlns:a="http://schemas.openxmlformats.org/drawingml/2006/main">
              <a:ext uri="{FF2B5EF4-FFF2-40B4-BE49-F238E27FC236}">
                <a16:creationId xmlns:a16="http://schemas.microsoft.com/office/drawing/2014/main" id="{A9370445-3F71-4CB1-B1B3-55F607710567}"/>
              </a:ext>
            </a:extLst>
          </p:cNvPr>
          <p:cNvSpPr>
            <a:spLocks xmlns:a="http://schemas.openxmlformats.org/drawingml/2006/main" noGrp="1"/>
          </p:cNvSpPr>
          <p:nvPr/>
        </p:nvSpPr>
        <p:spPr>
          <a:xfrm xmlns:a="http://schemas.openxmlformats.org/drawingml/2006/main">
            <a:off x="3295650" y="23241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RUNNER</a:t>
            </a:r>
          </a:p>
        </p:txBody>
      </p:sp>
      <p:sp>
        <p:nvSpPr>
          <p:cNvPr id="14" name="arch-label-2">
            <a:extLst xmlns:a="http://schemas.openxmlformats.org/drawingml/2006/main">
              <a:ext uri="{FF2B5EF4-FFF2-40B4-BE49-F238E27FC236}">
                <a16:creationId xmlns:a16="http://schemas.microsoft.com/office/drawing/2014/main" id="{85D9ACE0-B751-4079-82F9-B4723FAFCABA}"/>
              </a:ext>
            </a:extLst>
          </p:cNvPr>
          <p:cNvSpPr>
            <a:spLocks xmlns:a="http://schemas.openxmlformats.org/drawingml/2006/main" noGrp="1"/>
          </p:cNvSpPr>
          <p:nvPr/>
        </p:nvSpPr>
        <p:spPr>
          <a:xfrm xmlns:a="http://schemas.openxmlformats.org/drawingml/2006/main">
            <a:off x="3295650" y="27241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0B1220"/>
                </a:solidFill>
              </a:defRPr>
            </a:pPr>
            <a:r>
              <a:rPr sz="1650" b="1">
                <a:solidFill>
                  <a:srgbClr val="0B1220"/>
                </a:solidFill>
              </a:rPr>
              <a:t>CLI boundary</a:t>
            </a:r>
          </a:p>
        </p:txBody>
      </p:sp>
      <p:sp>
        <p:nvSpPr>
          <p:cNvPr id="15" name="arch-detail-2">
            <a:extLst xmlns:a="http://schemas.openxmlformats.org/drawingml/2006/main">
              <a:ext uri="{FF2B5EF4-FFF2-40B4-BE49-F238E27FC236}">
                <a16:creationId xmlns:a16="http://schemas.microsoft.com/office/drawing/2014/main" id="{4FCD1FF8-1E7E-444B-8A3C-53FD3B40A869}"/>
              </a:ext>
            </a:extLst>
          </p:cNvPr>
          <p:cNvSpPr>
            <a:spLocks xmlns:a="http://schemas.openxmlformats.org/drawingml/2006/main" noGrp="1"/>
          </p:cNvSpPr>
          <p:nvPr/>
        </p:nvSpPr>
        <p:spPr>
          <a:xfrm xmlns:a="http://schemas.openxmlformats.org/drawingml/2006/main">
            <a:off x="3295650" y="3219450"/>
            <a:ext cx="165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Credentials stay local</a:t>
            </a:r>
          </a:p>
        </p:txBody>
      </p:sp>
      <p:sp>
        <p:nvSpPr>
          <p:cNvPr id="16" name="arch-node-3">
            <a:extLst xmlns:a="http://schemas.openxmlformats.org/drawingml/2006/main">
              <a:ext uri="{FF2B5EF4-FFF2-40B4-BE49-F238E27FC236}">
                <a16:creationId xmlns:a16="http://schemas.microsoft.com/office/drawing/2014/main" id="{663D528A-39F1-4698-81E6-64FA1F92CAEF}"/>
              </a:ext>
            </a:extLst>
          </p:cNvPr>
          <p:cNvSpPr>
            <a:spLocks xmlns:a="http://schemas.openxmlformats.org/drawingml/2006/main" noGrp="1"/>
          </p:cNvSpPr>
          <p:nvPr/>
        </p:nvSpPr>
        <p:spPr>
          <a:xfrm xmlns:a="http://schemas.openxmlformats.org/drawingml/2006/main">
            <a:off x="5676900" y="2114550"/>
            <a:ext cx="2038350" cy="1733550"/>
          </a:xfrm>
          <a:prstGeom xmlns:a="http://schemas.openxmlformats.org/drawingml/2006/main" prst="roundRect">
            <a:avLst>
              <a:gd name="adj" fmla="val 6593"/>
            </a:avLst>
          </a:prstGeom>
          <a:solidFill xmlns:a="http://schemas.openxmlformats.org/drawingml/2006/main">
            <a:srgbClr val="EEF2F6"/>
          </a:solidFill>
          <a:ln xmlns:a="http://schemas.openxmlformats.org/drawingml/2006/main" w="9525">
            <a:solidFill>
              <a:srgbClr val="CBD3DF"/>
            </a:solidFill>
            <a:prstDash val="solid"/>
          </a:ln>
        </p:spPr>
      </p:sp>
      <p:sp>
        <p:nvSpPr>
          <p:cNvPr id="17" name="arch-tag-3">
            <a:extLst xmlns:a="http://schemas.openxmlformats.org/drawingml/2006/main">
              <a:ext uri="{FF2B5EF4-FFF2-40B4-BE49-F238E27FC236}">
                <a16:creationId xmlns:a16="http://schemas.microsoft.com/office/drawing/2014/main" id="{F0C2D0A7-F35D-434F-841E-4EB4F19657C8}"/>
              </a:ext>
            </a:extLst>
          </p:cNvPr>
          <p:cNvSpPr>
            <a:spLocks xmlns:a="http://schemas.openxmlformats.org/drawingml/2006/main" noGrp="1"/>
          </p:cNvSpPr>
          <p:nvPr/>
        </p:nvSpPr>
        <p:spPr>
          <a:xfrm xmlns:a="http://schemas.openxmlformats.org/drawingml/2006/main">
            <a:off x="5867400" y="23241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EVIDENCE</a:t>
            </a:r>
          </a:p>
        </p:txBody>
      </p:sp>
      <p:sp>
        <p:nvSpPr>
          <p:cNvPr id="18" name="arch-label-3">
            <a:extLst xmlns:a="http://schemas.openxmlformats.org/drawingml/2006/main">
              <a:ext uri="{FF2B5EF4-FFF2-40B4-BE49-F238E27FC236}">
                <a16:creationId xmlns:a16="http://schemas.microsoft.com/office/drawing/2014/main" id="{F66EB851-7FEC-45E4-B112-AD160A3F3A02}"/>
              </a:ext>
            </a:extLst>
          </p:cNvPr>
          <p:cNvSpPr>
            <a:spLocks xmlns:a="http://schemas.openxmlformats.org/drawingml/2006/main" noGrp="1"/>
          </p:cNvSpPr>
          <p:nvPr/>
        </p:nvSpPr>
        <p:spPr>
          <a:xfrm xmlns:a="http://schemas.openxmlformats.org/drawingml/2006/main">
            <a:off x="5867400" y="27241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0B1220"/>
                </a:solidFill>
              </a:defRPr>
            </a:pPr>
            <a:r>
              <a:rPr sz="1650" b="1">
                <a:solidFill>
                  <a:srgbClr val="0B1220"/>
                </a:solidFill>
              </a:rPr>
              <a:t>Cloudflare D1</a:t>
            </a:r>
          </a:p>
        </p:txBody>
      </p:sp>
      <p:sp>
        <p:nvSpPr>
          <p:cNvPr id="19" name="arch-detail-3">
            <a:extLst xmlns:a="http://schemas.openxmlformats.org/drawingml/2006/main">
              <a:ext uri="{FF2B5EF4-FFF2-40B4-BE49-F238E27FC236}">
                <a16:creationId xmlns:a16="http://schemas.microsoft.com/office/drawing/2014/main" id="{CB55C559-A22F-4FC8-AF78-F4C958019E17}"/>
              </a:ext>
            </a:extLst>
          </p:cNvPr>
          <p:cNvSpPr>
            <a:spLocks xmlns:a="http://schemas.openxmlformats.org/drawingml/2006/main" noGrp="1"/>
          </p:cNvSpPr>
          <p:nvPr/>
        </p:nvSpPr>
        <p:spPr>
          <a:xfrm xmlns:a="http://schemas.openxmlformats.org/drawingml/2006/main">
            <a:off x="5867400" y="3219450"/>
            <a:ext cx="165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Sanitized append-only data</a:t>
            </a:r>
          </a:p>
        </p:txBody>
      </p:sp>
      <p:sp>
        <p:nvSpPr>
          <p:cNvPr id="20" name="arch-node-4">
            <a:extLst xmlns:a="http://schemas.openxmlformats.org/drawingml/2006/main">
              <a:ext uri="{FF2B5EF4-FFF2-40B4-BE49-F238E27FC236}">
                <a16:creationId xmlns:a16="http://schemas.microsoft.com/office/drawing/2014/main" id="{31EFA980-AA73-4272-8B6E-9B560908A02A}"/>
              </a:ext>
            </a:extLst>
          </p:cNvPr>
          <p:cNvSpPr>
            <a:spLocks xmlns:a="http://schemas.openxmlformats.org/drawingml/2006/main" noGrp="1"/>
          </p:cNvSpPr>
          <p:nvPr/>
        </p:nvSpPr>
        <p:spPr>
          <a:xfrm xmlns:a="http://schemas.openxmlformats.org/drawingml/2006/main">
            <a:off x="8248650" y="2114550"/>
            <a:ext cx="2038350" cy="1733550"/>
          </a:xfrm>
          <a:prstGeom xmlns:a="http://schemas.openxmlformats.org/drawingml/2006/main" prst="roundRect">
            <a:avLst>
              <a:gd name="adj" fmla="val 6593"/>
            </a:avLst>
          </a:prstGeom>
          <a:solidFill xmlns:a="http://schemas.openxmlformats.org/drawingml/2006/main">
            <a:srgbClr val="EEF2F6"/>
          </a:solidFill>
          <a:ln xmlns:a="http://schemas.openxmlformats.org/drawingml/2006/main" w="9525">
            <a:solidFill>
              <a:srgbClr val="CBD3DF"/>
            </a:solidFill>
            <a:prstDash val="solid"/>
          </a:ln>
        </p:spPr>
      </p:sp>
      <p:sp>
        <p:nvSpPr>
          <p:cNvPr id="21" name="arch-tag-4">
            <a:extLst xmlns:a="http://schemas.openxmlformats.org/drawingml/2006/main">
              <a:ext uri="{FF2B5EF4-FFF2-40B4-BE49-F238E27FC236}">
                <a16:creationId xmlns:a16="http://schemas.microsoft.com/office/drawing/2014/main" id="{324E8922-F370-4F07-85DA-FC866A6A01AC}"/>
              </a:ext>
            </a:extLst>
          </p:cNvPr>
          <p:cNvSpPr>
            <a:spLocks xmlns:a="http://schemas.openxmlformats.org/drawingml/2006/main" noGrp="1"/>
          </p:cNvSpPr>
          <p:nvPr/>
        </p:nvSpPr>
        <p:spPr>
          <a:xfrm xmlns:a="http://schemas.openxmlformats.org/drawingml/2006/main">
            <a:off x="8439150" y="23241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3D8DFF"/>
                </a:solidFill>
              </a:defRPr>
            </a:pPr>
            <a:r>
              <a:rPr sz="1050" b="1">
                <a:solidFill>
                  <a:srgbClr val="3D8DFF"/>
                </a:solidFill>
              </a:rPr>
              <a:t>PRODUCT</a:t>
            </a:r>
          </a:p>
        </p:txBody>
      </p:sp>
      <p:sp>
        <p:nvSpPr>
          <p:cNvPr id="22" name="arch-label-4">
            <a:extLst xmlns:a="http://schemas.openxmlformats.org/drawingml/2006/main">
              <a:ext uri="{FF2B5EF4-FFF2-40B4-BE49-F238E27FC236}">
                <a16:creationId xmlns:a16="http://schemas.microsoft.com/office/drawing/2014/main" id="{E1ABAD7B-70B3-4BF7-9AF2-96AE75CEEC8C}"/>
              </a:ext>
            </a:extLst>
          </p:cNvPr>
          <p:cNvSpPr>
            <a:spLocks xmlns:a="http://schemas.openxmlformats.org/drawingml/2006/main" noGrp="1"/>
          </p:cNvSpPr>
          <p:nvPr/>
        </p:nvSpPr>
        <p:spPr>
          <a:xfrm xmlns:a="http://schemas.openxmlformats.org/drawingml/2006/main">
            <a:off x="8439150" y="27241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650" b="1">
                <a:solidFill>
                  <a:srgbClr val="0B1220"/>
                </a:solidFill>
              </a:defRPr>
            </a:pPr>
            <a:r>
              <a:rPr sz="1650" b="1">
                <a:solidFill>
                  <a:srgbClr val="0B1220"/>
                </a:solidFill>
              </a:rPr>
              <a:t>VolGuard UI</a:t>
            </a:r>
          </a:p>
        </p:txBody>
      </p:sp>
      <p:sp>
        <p:nvSpPr>
          <p:cNvPr id="23" name="arch-detail-4">
            <a:extLst xmlns:a="http://schemas.openxmlformats.org/drawingml/2006/main">
              <a:ext uri="{FF2B5EF4-FFF2-40B4-BE49-F238E27FC236}">
                <a16:creationId xmlns:a16="http://schemas.microsoft.com/office/drawing/2014/main" id="{87F747F3-C76C-4711-A3CF-0F3707970BB0}"/>
              </a:ext>
            </a:extLst>
          </p:cNvPr>
          <p:cNvSpPr>
            <a:spLocks xmlns:a="http://schemas.openxmlformats.org/drawingml/2006/main" noGrp="1"/>
          </p:cNvSpPr>
          <p:nvPr/>
        </p:nvSpPr>
        <p:spPr>
          <a:xfrm xmlns:a="http://schemas.openxmlformats.org/drawingml/2006/main">
            <a:off x="8439150" y="3219450"/>
            <a:ext cx="165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596579"/>
                </a:solidFill>
              </a:defRPr>
            </a:pPr>
            <a:r>
              <a:rPr sz="1200">
                <a:solidFill>
                  <a:srgbClr val="596579"/>
                </a:solidFill>
              </a:rPr>
              <a:t>Six responsive pages</a:t>
            </a:r>
          </a:p>
        </p:txBody>
      </p:sp>
      <p:sp>
        <p:nvSpPr>
          <p:cNvPr id="24" name="monitor-band">
            <a:extLst xmlns:a="http://schemas.openxmlformats.org/drawingml/2006/main">
              <a:ext uri="{FF2B5EF4-FFF2-40B4-BE49-F238E27FC236}">
                <a16:creationId xmlns:a16="http://schemas.microsoft.com/office/drawing/2014/main" id="{743C5865-5545-4C20-88E7-9598770076D5}"/>
              </a:ext>
            </a:extLst>
          </p:cNvPr>
          <p:cNvSpPr>
            <a:spLocks xmlns:a="http://schemas.openxmlformats.org/drawingml/2006/main" noGrp="1"/>
          </p:cNvSpPr>
          <p:nvPr/>
        </p:nvSpPr>
        <p:spPr>
          <a:xfrm xmlns:a="http://schemas.openxmlformats.org/drawingml/2006/main">
            <a:off x="533400" y="4476750"/>
            <a:ext cx="9753600" cy="1181100"/>
          </a:xfrm>
          <a:prstGeom xmlns:a="http://schemas.openxmlformats.org/drawingml/2006/main" prst="roundRect">
            <a:avLst>
              <a:gd name="adj" fmla="val 9677"/>
            </a:avLst>
          </a:prstGeom>
          <a:solidFill xmlns:a="http://schemas.openxmlformats.org/drawingml/2006/main">
            <a:srgbClr val="DDF6EC"/>
          </a:solidFill>
          <a:ln xmlns:a="http://schemas.openxmlformats.org/drawingml/2006/main" w="9525">
            <a:solidFill>
              <a:srgbClr val="19A974"/>
            </a:solidFill>
            <a:prstDash val="solid"/>
          </a:ln>
        </p:spPr>
      </p:sp>
      <p:sp>
        <p:nvSpPr>
          <p:cNvPr id="25" name="monitor-title">
            <a:extLst xmlns:a="http://schemas.openxmlformats.org/drawingml/2006/main">
              <a:ext uri="{FF2B5EF4-FFF2-40B4-BE49-F238E27FC236}">
                <a16:creationId xmlns:a16="http://schemas.microsoft.com/office/drawing/2014/main" id="{755502E5-B34E-4526-9FD3-224EFA16D71C}"/>
              </a:ext>
            </a:extLst>
          </p:cNvPr>
          <p:cNvSpPr>
            <a:spLocks xmlns:a="http://schemas.openxmlformats.org/drawingml/2006/main" noGrp="1"/>
          </p:cNvSpPr>
          <p:nvPr/>
        </p:nvSpPr>
        <p:spPr>
          <a:xfrm xmlns:a="http://schemas.openxmlformats.org/drawingml/2006/main">
            <a:off x="781050" y="472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800" b="1">
                <a:solidFill>
                  <a:srgbClr val="19A974"/>
                </a:solidFill>
              </a:defRPr>
            </a:pPr>
            <a:r>
              <a:rPr sz="1800" b="1">
                <a:solidFill>
                  <a:srgbClr val="19A974"/>
                </a:solidFill>
              </a:rPr>
              <a:t>Cloudflare Worker  →  GitHub Actions  →  serialized paper cycle</a:t>
            </a:r>
          </a:p>
        </p:txBody>
      </p:sp>
      <p:sp>
        <p:nvSpPr>
          <p:cNvPr id="26" name="monitor-detail">
            <a:extLst xmlns:a="http://schemas.openxmlformats.org/drawingml/2006/main">
              <a:ext uri="{FF2B5EF4-FFF2-40B4-BE49-F238E27FC236}">
                <a16:creationId xmlns:a16="http://schemas.microsoft.com/office/drawing/2014/main" id="{026410B6-8848-4C6C-849C-B4A3F3FB632C}"/>
              </a:ext>
            </a:extLst>
          </p:cNvPr>
          <p:cNvSpPr>
            <a:spLocks xmlns:a="http://schemas.openxmlformats.org/drawingml/2006/main" noGrp="1"/>
          </p:cNvSpPr>
          <p:nvPr/>
        </p:nvSpPr>
        <p:spPr>
          <a:xfrm xmlns:a="http://schemas.openxmlformats.org/drawingml/2006/main">
            <a:off x="781050" y="52197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596579"/>
                </a:solidFill>
              </a:defRPr>
            </a:pPr>
            <a:r>
              <a:rPr sz="1275">
                <a:solidFill>
                  <a:srgbClr val="596579"/>
                </a:solidFill>
              </a:rPr>
              <a:t>Every 5 minutes: reconcile + monitor exits. Every 10 minutes: fresh scan + memory-confirmed entry attempt.</a:t>
            </a:r>
          </a:p>
        </p:txBody>
      </p:sp>
      <p:sp>
        <p:nvSpPr>
          <p:cNvPr id="27" name="monitor-lock">
            <a:extLst xmlns:a="http://schemas.openxmlformats.org/drawingml/2006/main">
              <a:ext uri="{FF2B5EF4-FFF2-40B4-BE49-F238E27FC236}">
                <a16:creationId xmlns:a16="http://schemas.microsoft.com/office/drawing/2014/main" id="{EEAA76DE-563C-4EB7-93EF-650B497A1A9C}"/>
              </a:ext>
            </a:extLst>
          </p:cNvPr>
          <p:cNvSpPr>
            <a:spLocks xmlns:a="http://schemas.openxmlformats.org/drawingml/2006/main" noGrp="1"/>
          </p:cNvSpPr>
          <p:nvPr/>
        </p:nvSpPr>
        <p:spPr>
          <a:xfrm xmlns:a="http://schemas.openxmlformats.org/drawingml/2006/main">
            <a:off x="10534650" y="4572000"/>
            <a:ext cx="1123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C73E4D"/>
                </a:solidFill>
              </a:defRPr>
            </a:pPr>
            <a:r>
              <a:rPr sz="1200" b="1">
                <a:solidFill>
                  <a:srgbClr val="C73E4D"/>
                </a:solidFill>
              </a:rPr>
              <a:t>Separate entry and exit locks</a:t>
            </a:r>
          </a:p>
        </p:txBody>
      </p:sp>
    </p:spTree>
    <p:extLst>
      <p:ext uri="{BB962C8B-B14F-4D97-AF65-F5344CB8AC3E}">
        <p14:creationId xmlns:p14="http://schemas.microsoft.com/office/powerpoint/2010/main" val="234963265"/>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close-kicker">
            <a:extLst xmlns:a="http://schemas.openxmlformats.org/drawingml/2006/main">
              <a:ext uri="{FF2B5EF4-FFF2-40B4-BE49-F238E27FC236}">
                <a16:creationId xmlns:a16="http://schemas.microsoft.com/office/drawing/2014/main" id="{E634279B-AF0E-40DA-AFF9-C20484F4D6D4}"/>
              </a:ext>
            </a:extLst>
          </p:cNvPr>
          <p:cNvSpPr>
            <a:spLocks xmlns:a="http://schemas.openxmlformats.org/drawingml/2006/main" noGrp="1"/>
          </p:cNvSpPr>
          <p:nvPr/>
        </p:nvSpPr>
        <p:spPr>
          <a:xfrm xmlns:a="http://schemas.openxmlformats.org/drawingml/2006/main">
            <a:off x="533400" y="514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7FC3FF"/>
                </a:solidFill>
              </a:defRPr>
            </a:pPr>
            <a:r>
              <a:rPr sz="1200" b="1">
                <a:solidFill>
                  <a:srgbClr val="7FC3FF"/>
                </a:solidFill>
              </a:rPr>
              <a:t>VOLGUARD AI</a:t>
            </a:r>
          </a:p>
        </p:txBody>
      </p:sp>
      <p:sp>
        <p:nvSpPr>
          <p:cNvPr id="2" name="close-title">
            <a:extLst xmlns:a="http://schemas.openxmlformats.org/drawingml/2006/main">
              <a:ext uri="{FF2B5EF4-FFF2-40B4-BE49-F238E27FC236}">
                <a16:creationId xmlns:a16="http://schemas.microsoft.com/office/drawing/2014/main" id="{22635F75-AF67-4937-9EEB-58AB6D05B721}"/>
              </a:ext>
            </a:extLst>
          </p:cNvPr>
          <p:cNvSpPr>
            <a:spLocks xmlns:a="http://schemas.openxmlformats.org/drawingml/2006/main" noGrp="1"/>
          </p:cNvSpPr>
          <p:nvPr/>
        </p:nvSpPr>
        <p:spPr>
          <a:xfrm xmlns:a="http://schemas.openxmlformats.org/drawingml/2006/main">
            <a:off x="533400" y="1600200"/>
            <a:ext cx="885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650" b="1">
                <a:solidFill>
                  <a:srgbClr val="FFFFFF"/>
                </a:solidFill>
              </a:defRPr>
            </a:pPr>
            <a:r>
              <a:rPr sz="4650" b="1">
                <a:solidFill>
                  <a:srgbClr val="FFFFFF"/>
                </a:solidFill>
              </a:rPr>
              <a:t>Autonomy you can audit.</a:t>
            </a:r>
          </a:p>
        </p:txBody>
      </p:sp>
      <p:sp>
        <p:nvSpPr>
          <p:cNvPr id="3" name="close-line-1">
            <a:extLst xmlns:a="http://schemas.openxmlformats.org/drawingml/2006/main">
              <a:ext uri="{FF2B5EF4-FFF2-40B4-BE49-F238E27FC236}">
                <a16:creationId xmlns:a16="http://schemas.microsoft.com/office/drawing/2014/main" id="{7F4F981B-4DBF-4530-8BBC-361082914194}"/>
              </a:ext>
            </a:extLst>
          </p:cNvPr>
          <p:cNvSpPr>
            <a:spLocks xmlns:a="http://schemas.openxmlformats.org/drawingml/2006/main" noGrp="1"/>
          </p:cNvSpPr>
          <p:nvPr/>
        </p:nvSpPr>
        <p:spPr>
          <a:xfrm xmlns:a="http://schemas.openxmlformats.org/drawingml/2006/main">
            <a:off x="533400" y="337185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175" b="1">
                <a:solidFill>
                  <a:srgbClr val="FFFFFF"/>
                </a:solidFill>
              </a:defRPr>
            </a:pPr>
            <a:r>
              <a:rPr sz="2175" b="1">
                <a:solidFill>
                  <a:srgbClr val="FFFFFF"/>
                </a:solidFill>
              </a:rPr>
              <a:t>Autonomous enough to act.</a:t>
            </a:r>
          </a:p>
        </p:txBody>
      </p:sp>
      <p:sp>
        <p:nvSpPr>
          <p:cNvPr id="4" name="close-line-2">
            <a:extLst xmlns:a="http://schemas.openxmlformats.org/drawingml/2006/main">
              <a:ext uri="{FF2B5EF4-FFF2-40B4-BE49-F238E27FC236}">
                <a16:creationId xmlns:a16="http://schemas.microsoft.com/office/drawing/2014/main" id="{5F4E9855-F783-40C4-9648-9CCB90B82162}"/>
              </a:ext>
            </a:extLst>
          </p:cNvPr>
          <p:cNvSpPr>
            <a:spLocks xmlns:a="http://schemas.openxmlformats.org/drawingml/2006/main" noGrp="1"/>
          </p:cNvSpPr>
          <p:nvPr/>
        </p:nvSpPr>
        <p:spPr>
          <a:xfrm xmlns:a="http://schemas.openxmlformats.org/drawingml/2006/main">
            <a:off x="533400" y="4010025"/>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175" b="1">
                <a:solidFill>
                  <a:srgbClr val="FFFFFF"/>
                </a:solidFill>
              </a:defRPr>
            </a:pPr>
            <a:r>
              <a:rPr sz="2175" b="1">
                <a:solidFill>
                  <a:srgbClr val="FFFFFF"/>
                </a:solidFill>
              </a:rPr>
              <a:t>Constrained enough to abstain.</a:t>
            </a:r>
          </a:p>
        </p:txBody>
      </p:sp>
      <p:sp>
        <p:nvSpPr>
          <p:cNvPr id="5" name="close-line-3">
            <a:extLst xmlns:a="http://schemas.openxmlformats.org/drawingml/2006/main">
              <a:ext uri="{FF2B5EF4-FFF2-40B4-BE49-F238E27FC236}">
                <a16:creationId xmlns:a16="http://schemas.microsoft.com/office/drawing/2014/main" id="{AE3D78CB-8C6F-4BBA-A38C-BC74412C207B}"/>
              </a:ext>
            </a:extLst>
          </p:cNvPr>
          <p:cNvSpPr>
            <a:spLocks xmlns:a="http://schemas.openxmlformats.org/drawingml/2006/main" noGrp="1"/>
          </p:cNvSpPr>
          <p:nvPr/>
        </p:nvSpPr>
        <p:spPr>
          <a:xfrm xmlns:a="http://schemas.openxmlformats.org/drawingml/2006/main">
            <a:off x="533400" y="46482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175" b="1">
                <a:solidFill>
                  <a:srgbClr val="7FC3FF"/>
                </a:solidFill>
              </a:defRPr>
            </a:pPr>
            <a:r>
              <a:rPr sz="2175" b="1">
                <a:solidFill>
                  <a:srgbClr val="7FC3FF"/>
                </a:solidFill>
              </a:rPr>
              <a:t>Transparent enough to improve.</a:t>
            </a:r>
          </a:p>
        </p:txBody>
      </p:sp>
      <p:sp>
        <p:nvSpPr>
          <p:cNvPr id="6" name="close-proof">
            <a:extLst xmlns:a="http://schemas.openxmlformats.org/drawingml/2006/main">
              <a:ext uri="{FF2B5EF4-FFF2-40B4-BE49-F238E27FC236}">
                <a16:creationId xmlns:a16="http://schemas.microsoft.com/office/drawing/2014/main" id="{21C9249D-B45C-4BA4-A61E-EB81D00C745B}"/>
              </a:ext>
            </a:extLst>
          </p:cNvPr>
          <p:cNvSpPr>
            <a:spLocks xmlns:a="http://schemas.openxmlformats.org/drawingml/2006/main" noGrp="1"/>
          </p:cNvSpPr>
          <p:nvPr/>
        </p:nvSpPr>
        <p:spPr>
          <a:xfrm xmlns:a="http://schemas.openxmlformats.org/drawingml/2006/main">
            <a:off x="533400" y="58102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a:solidFill>
                  <a:srgbClr val="B8C4D6"/>
                </a:solidFill>
              </a:defRPr>
            </a:pPr>
            <a:r>
              <a:rPr sz="1350">
                <a:solidFill>
                  <a:srgbClr val="B8C4D6"/>
                </a:solidFill>
              </a:rPr>
              <a:t>Alpaca options  •  Paper execution  •  Risk governance  •  Lifecycle evidence</a:t>
            </a:r>
          </a:p>
        </p:txBody>
      </p:sp>
      <p:sp>
        <p:nvSpPr>
          <p:cNvPr id="7" name="close-mark">
            <a:extLst xmlns:a="http://schemas.openxmlformats.org/drawingml/2006/main">
              <a:ext uri="{FF2B5EF4-FFF2-40B4-BE49-F238E27FC236}">
                <a16:creationId xmlns:a16="http://schemas.microsoft.com/office/drawing/2014/main" id="{5D58E2A3-E7F4-4C18-A390-E53C457CB504}"/>
              </a:ext>
            </a:extLst>
          </p:cNvPr>
          <p:cNvSpPr>
            <a:spLocks xmlns:a="http://schemas.openxmlformats.org/drawingml/2006/main" noGrp="1"/>
          </p:cNvSpPr>
          <p:nvPr/>
        </p:nvSpPr>
        <p:spPr>
          <a:xfrm xmlns:a="http://schemas.openxmlformats.org/drawingml/2006/main">
            <a:off x="9906000" y="1809750"/>
            <a:ext cx="14859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8400" b="1">
                <a:solidFill>
                  <a:srgbClr val="3D8DFF"/>
                </a:solidFill>
              </a:defRPr>
            </a:pPr>
            <a:r>
              <a:rPr sz="8400" b="1">
                <a:solidFill>
                  <a:srgbClr val="3D8DFF"/>
                </a:solidFill>
              </a:rPr>
              <a:t>V</a:t>
            </a:r>
          </a:p>
        </p:txBody>
      </p:sp>
    </p:spTree>
    <p:extLst>
      <p:ext uri="{BB962C8B-B14F-4D97-AF65-F5344CB8AC3E}">
        <p14:creationId xmlns:p14="http://schemas.microsoft.com/office/powerpoint/2010/main" val="3130801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2026-09-02T21:06:23.7040000Z</dcterms:created>
  <dcterms:modified xsi:type="dcterms:W3CDTF">2026-09-02T21:06:23.7040000Z</dcterms:modified>
</coreProperties>
</file>