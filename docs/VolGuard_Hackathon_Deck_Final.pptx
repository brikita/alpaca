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44c5834a4a8474c" /><Relationship Type="http://schemas.openxmlformats.org/officeDocument/2006/relationships/extended-properties" Target="/docProps/app.xml" Id="R62824612a7c34274" /><Relationship Type="http://schemas.openxmlformats.org/officeDocument/2006/relationships/officeDocument" Target="/ppt/presentation.xml" Id="Rb560a207ee6c432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9d01c5d2a3447ca"/>
  </p:sldMasterIdLst>
  <p:notesMasterIdLst>
    <p:notesMasterId xmlns:r="http://schemas.openxmlformats.org/officeDocument/2006/relationships" r:id="Rc3c1dd65b6e04c90"/>
  </p:notesMasterIdLst>
  <p:sldIdLst>
    <p:sldId xmlns:r="http://schemas.openxmlformats.org/officeDocument/2006/relationships" id="256" r:id="Rc30695384b1a4cb0"/>
    <p:sldId xmlns:r="http://schemas.openxmlformats.org/officeDocument/2006/relationships" id="257" r:id="R140d874f9791491f"/>
    <p:sldId xmlns:r="http://schemas.openxmlformats.org/officeDocument/2006/relationships" id="258" r:id="Rc242b83576224beb"/>
    <p:sldId xmlns:r="http://schemas.openxmlformats.org/officeDocument/2006/relationships" id="259" r:id="R08ab890cdec949a6"/>
    <p:sldId xmlns:r="http://schemas.openxmlformats.org/officeDocument/2006/relationships" id="260" r:id="R8535a4a67e66473d"/>
    <p:sldId xmlns:r="http://schemas.openxmlformats.org/officeDocument/2006/relationships" id="261" r:id="R0f9a71149c6e4ce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cf0894125e04dfd" /><Relationship Type="http://schemas.openxmlformats.org/officeDocument/2006/relationships/slideMaster" Target="/ppt/slideMasters/slideMaster1.xml" Id="R39d01c5d2a3447ca" /><Relationship Type="http://schemas.openxmlformats.org/officeDocument/2006/relationships/notesMaster" Target="/ppt/notesMasters/notesMaster1.xml" Id="Rc3c1dd65b6e04c90" /><Relationship Type="http://schemas.openxmlformats.org/officeDocument/2006/relationships/presProps" Target="/ppt/presProps.xml" Id="R93d42d346107491e" /><Relationship Type="http://schemas.openxmlformats.org/officeDocument/2006/relationships/tableStyles" Target="/ppt/tableStyles.xml" Id="Rc25f03b408b64893" /><Relationship Type="http://schemas.openxmlformats.org/officeDocument/2006/relationships/slide" Target="/ppt/slides/slide1.xml" Id="Rc30695384b1a4cb0" /><Relationship Type="http://schemas.openxmlformats.org/officeDocument/2006/relationships/slide" Target="/ppt/slides/slide2.xml" Id="R140d874f9791491f" /><Relationship Type="http://schemas.openxmlformats.org/officeDocument/2006/relationships/slide" Target="/ppt/slides/slide3.xml" Id="Rc242b83576224beb" /><Relationship Type="http://schemas.openxmlformats.org/officeDocument/2006/relationships/slide" Target="/ppt/slides/slide4.xml" Id="R08ab890cdec949a6" /><Relationship Type="http://schemas.openxmlformats.org/officeDocument/2006/relationships/slide" Target="/ppt/slides/slide5.xml" Id="R8535a4a67e66473d" /><Relationship Type="http://schemas.openxmlformats.org/officeDocument/2006/relationships/slide" Target="/ppt/slides/slide6.xml" Id="R0f9a71149c6e4ce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22eb197b647442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642b18817ca49a6" /><Relationship Type="http://schemas.openxmlformats.org/officeDocument/2006/relationships/notesMaster" Target="/ppt/notesMasters/notesMaster1.xml" Id="R398525eda414408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77f4706d5044d82" /><Relationship Type="http://schemas.openxmlformats.org/officeDocument/2006/relationships/notesMaster" Target="/ppt/notesMasters/notesMaster1.xml" Id="R9b76f16d4d5a480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26cdcb59b09484c" /><Relationship Type="http://schemas.openxmlformats.org/officeDocument/2006/relationships/notesMaster" Target="/ppt/notesMasters/notesMaster1.xml" Id="Rd2f6c666a3be44d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55322ef938f4358" /><Relationship Type="http://schemas.openxmlformats.org/officeDocument/2006/relationships/notesMaster" Target="/ppt/notesMasters/notesMaster1.xml" Id="Reac98a59ee0b4c8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d7f915ff7c649c9" /><Relationship Type="http://schemas.openxmlformats.org/officeDocument/2006/relationships/notesMaster" Target="/ppt/notesMasters/notesMaster1.xml" Id="R4659cd7afb9541d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e258ce823d84750" /><Relationship Type="http://schemas.openxmlformats.org/officeDocument/2006/relationships/notesMaster" Target="/ppt/notesMasters/notesMaster1.xml" Id="R356d89c8315743d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https://volguard-ai.briankinyua0101.chatgpt.site — product screenshot and public demo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https://github.com/Brikita/Alpaca — VolGuard source and process implementation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https://github.com/Brikita/Alpaca/blob/master/lib/risk-governor.ts — deterministic gate implementation</a:t>
            </a:r>
          </a:p>
          <a:p xmlns:a="http://schemas.openxmlformats.org/drawingml/2006/main">
            <a:r>
              <a:t>- https://github.com/Brikita/Alpaca/blob/master/lib/domain.ts — policy thresholds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https://volguard-ai.briankinyua0101.chatgpt.site/api/history — sanitized execution and monitoring events, captured 2026-09-03</a:t>
            </a:r>
          </a:p>
          <a:p xmlns:a="http://schemas.openxmlformats.org/drawingml/2006/main">
            <a:r>
              <a:t>- https://github.com/Brikita/Alpaca/actions/runs/33786161540 — successful automated paper cycle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https://github.com/Brikita/Alpaca/blob/master/workers/github-scheduler/src/index.mjs — authenticated scheduler</a:t>
            </a:r>
          </a:p>
          <a:p xmlns:a="http://schemas.openxmlformats.org/drawingml/2006/main">
            <a:r>
              <a:t>- https://github.com/Brikita/Alpaca/blob/master/.github/workflows/monitor-paper-position.yml — serialized paper cycle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https://github.com/Brikita/Alpaca — public source</a:t>
            </a:r>
          </a:p>
          <a:p xmlns:a="http://schemas.openxmlformats.org/drawingml/2006/main">
            <a:r>
              <a:t>- https://volguard-ai.briankinyua0101.chatgpt.site — public product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13c9a967f0489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52f44ab0fed41ea" /><Relationship Type="http://schemas.openxmlformats.org/officeDocument/2006/relationships/slideLayout" Target="/ppt/slideLayouts/slideLayout1.xml" Id="R70694a65d7284bd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0694a65d7284bd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4691f831534afc" /><Relationship Type="http://schemas.openxmlformats.org/officeDocument/2006/relationships/image" Target="/ppt/media/image.jpeg" Id="Rf25e907faad34383" /><Relationship Type="http://schemas.openxmlformats.org/officeDocument/2006/relationships/notesSlide" Target="/ppt/notesSlides/notesSlide1.xml" Id="Rd307e5fc479f4aa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edebf4b6f049c0" /><Relationship Type="http://schemas.openxmlformats.org/officeDocument/2006/relationships/notesSlide" Target="/ppt/notesSlides/notesSlide2.xml" Id="Rdf1b3462c7f440a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eb99894aac4be8" /><Relationship Type="http://schemas.openxmlformats.org/officeDocument/2006/relationships/notesSlide" Target="/ppt/notesSlides/notesSlide3.xml" Id="R5b26f84019504b8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2425e56dee4736" /><Relationship Type="http://schemas.openxmlformats.org/officeDocument/2006/relationships/notesSlide" Target="/ppt/notesSlides/notesSlide4.xml" Id="R962bc3e99d8e4dc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1c1278d50347b0" /><Relationship Type="http://schemas.openxmlformats.org/officeDocument/2006/relationships/notesSlide" Target="/ppt/notesSlides/notesSlide5.xml" Id="Re2bae2155a24409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d2c4cc448d4338" /><Relationship Type="http://schemas.openxmlformats.org/officeDocument/2006/relationships/notesSlide" Target="/ppt/notesSlides/notesSlide6.xml" Id="R27b8ef341dc2482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8C909AB2-4175-43ED-880C-14DED484B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ALPACA AI TRADING AGENTS HACKATHON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2BE13234-D8C6-401B-ABF4-411191EDC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5048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5100" b="1">
                <a:solidFill>
                  <a:srgbClr val="0B1220"/>
                </a:solidFill>
              </a:defRPr>
            </a:pPr>
            <a:r>
              <a:rPr sz="5100" b="1">
                <a:solidFill>
                  <a:srgbClr val="0B1220"/>
                </a:solidFill>
              </a:rPr>
              <a:t>VolGuard AI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BB43EA8D-45E0-4943-B12D-BACA7F3B1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100">
                <a:solidFill>
                  <a:srgbClr val="596579"/>
                </a:solidFill>
              </a:defRPr>
            </a:pPr>
            <a:r>
              <a:rPr sz="2100">
                <a:solidFill>
                  <a:srgbClr val="596579"/>
                </a:solidFill>
              </a:rPr>
              <a:t>An autonomous, risk-governed options desk that knows when not to trade.</a:t>
            </a:r>
          </a:p>
        </p:txBody>
      </p:sp>
      <p:sp>
        <p:nvSpPr>
          <p:cNvPr id="4" name="cover-proof">
            <a:extLst xmlns:a="http://schemas.openxmlformats.org/drawingml/2006/main">
              <a:ext uri="{FF2B5EF4-FFF2-40B4-BE49-F238E27FC236}">
                <a16:creationId xmlns:a16="http://schemas.microsoft.com/office/drawing/2014/main" id="{2F7BC782-C931-4BFC-BC01-06915AE2A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0"/>
            <a:ext cx="5191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9A974"/>
                </a:solidFill>
              </a:defRPr>
            </a:pPr>
            <a:r>
              <a:rPr sz="1200" b="1">
                <a:solidFill>
                  <a:srgbClr val="19A974"/>
                </a:solidFill>
              </a:rPr>
              <a:t>REAL ALPACA PAPER FILL  •  14 RISK GATES  •  5-MINUTE MONITOR</a:t>
            </a:r>
          </a:p>
        </p:txBody>
      </p:sp>
      <p:sp>
        <p:nvSpPr>
          <p:cNvPr id="5" name="cover-safety">
            <a:extLst xmlns:a="http://schemas.openxmlformats.org/drawingml/2006/main">
              <a:ext uri="{FF2B5EF4-FFF2-40B4-BE49-F238E27FC236}">
                <a16:creationId xmlns:a16="http://schemas.microsoft.com/office/drawing/2014/main" id="{59816813-4C54-4614-9B87-C522ECD1E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816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596579"/>
                </a:solidFill>
              </a:defRPr>
            </a:pPr>
            <a:r>
              <a:rPr sz="1200">
                <a:solidFill>
                  <a:srgbClr val="596579"/>
                </a:solidFill>
              </a:rPr>
              <a:t>Educational paper-trading system · No real capital</a:t>
            </a:r>
          </a:p>
        </p:txBody>
      </p:sp>
      <p:sp>
        <p:nvSpPr>
          <p:cNvPr id="6" name="cover-product-frame">
            <a:extLst xmlns:a="http://schemas.openxmlformats.org/drawingml/2006/main">
              <a:ext uri="{FF2B5EF4-FFF2-40B4-BE49-F238E27FC236}">
                <a16:creationId xmlns:a16="http://schemas.microsoft.com/office/drawing/2014/main" id="{367FAE6D-B6B9-49E5-B4BE-B77C10846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990600"/>
            <a:ext cx="5676900" cy="4476750"/>
          </a:xfrm>
          <a:prstGeom xmlns:a="http://schemas.openxmlformats.org/drawingml/2006/main" prst="roundRect">
            <a:avLst>
              <a:gd name="adj" fmla="val 2553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7" name="cover-product-label">
            <a:extLst xmlns:a="http://schemas.openxmlformats.org/drawingml/2006/main">
              <a:ext uri="{FF2B5EF4-FFF2-40B4-BE49-F238E27FC236}">
                <a16:creationId xmlns:a16="http://schemas.microsoft.com/office/drawing/2014/main" id="{831DA71F-2FC4-4B11-AFB4-0C60721AF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2001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LIVE PRODUCT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5e907faad34383"/>
          <a:stretch xmlns:a="http://schemas.openxmlformats.org/drawingml/2006/main"/>
        </p:blipFill>
        <p:spPr>
          <a:xfrm xmlns:a="http://schemas.openxmlformats.org/drawingml/2006/main">
            <a:off x="6195483" y="1657350"/>
            <a:ext cx="5249333" cy="2952750"/>
          </a:xfrm>
          <a:prstGeom xmlns:a="http://schemas.openxmlformats.org/drawingml/2006/main" prst="roundRect">
            <a:avLst>
              <a:gd name="adj" fmla="val 3871"/>
            </a:avLst>
          </a:prstGeom>
        </p:spPr>
      </p:pic>
      <p:sp>
        <p:nvSpPr>
          <p:cNvPr id="9" name="cover-product-caption">
            <a:extLst xmlns:a="http://schemas.openxmlformats.org/drawingml/2006/main">
              <a:ext uri="{FF2B5EF4-FFF2-40B4-BE49-F238E27FC236}">
                <a16:creationId xmlns:a16="http://schemas.microsoft.com/office/drawing/2014/main" id="{4670156F-8D34-422C-94A0-738B04B03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768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596579"/>
                </a:solidFill>
              </a:defRPr>
            </a:pPr>
            <a:r>
              <a:rPr sz="1200">
                <a:solidFill>
                  <a:srgbClr val="596579"/>
                </a:solidFill>
              </a:rPr>
              <a:t>Sanitized telemetry · responsive dashboard</a:t>
            </a:r>
          </a:p>
        </p:txBody>
      </p:sp>
    </p:spTree>
    <p:extLst>
      <p:ext uri="{BB962C8B-B14F-4D97-AF65-F5344CB8AC3E}">
        <p14:creationId xmlns:p14="http://schemas.microsoft.com/office/powerpoint/2010/main" val="10166519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slide-2-eyebrow">
            <a:extLst xmlns:a="http://schemas.openxmlformats.org/drawingml/2006/main">
              <a:ext uri="{FF2B5EF4-FFF2-40B4-BE49-F238E27FC236}">
                <a16:creationId xmlns:a16="http://schemas.microsoft.com/office/drawing/2014/main" id="{3FE8464C-518C-43A4-A0AC-285958B36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542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VOLGUARD AI  /  ALPACA PAPER OPTIONS</a:t>
            </a:r>
          </a:p>
        </p:txBody>
      </p:sp>
      <p:sp>
        <p:nvSpPr>
          <p:cNvPr id="2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72AAB4B6-EB71-4456-8462-BACF3BF67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125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0B1220"/>
                </a:solidFill>
              </a:defRPr>
            </a:pPr>
            <a:r>
              <a:rPr sz="3150" b="1">
                <a:solidFill>
                  <a:srgbClr val="0B1220"/>
                </a:solidFill>
              </a:rPr>
              <a:t>The agent earns permission to trade</a:t>
            </a:r>
          </a:p>
        </p:txBody>
      </p:sp>
      <p:sp>
        <p:nvSpPr>
          <p:cNvPr id="3" name="slide-2-rule">
            <a:extLst xmlns:a="http://schemas.openxmlformats.org/drawingml/2006/main">
              <a:ext uri="{FF2B5EF4-FFF2-40B4-BE49-F238E27FC236}">
                <a16:creationId xmlns:a16="http://schemas.microsoft.com/office/drawing/2014/main" id="{DCC9B832-3663-4002-B6D5-D75DEEC8D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4" name="slide-2-number">
            <a:extLst xmlns:a="http://schemas.openxmlformats.org/drawingml/2006/main">
              <a:ext uri="{FF2B5EF4-FFF2-40B4-BE49-F238E27FC236}">
                <a16:creationId xmlns:a16="http://schemas.microsoft.com/office/drawing/2014/main" id="{2562FB48-64B4-4730-8FE2-29FFFF355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>
                <a:solidFill>
                  <a:srgbClr val="596579"/>
                </a:solidFill>
              </a:defRPr>
            </a:pPr>
            <a:r>
              <a:rPr sz="900">
                <a:solidFill>
                  <a:srgbClr val="596579"/>
                </a:solidFill>
              </a:rPr>
              <a:t>02</a:t>
            </a:r>
          </a:p>
        </p:txBody>
      </p:sp>
      <p:sp>
        <p:nvSpPr>
          <p:cNvPr id="5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636F9359-6D0C-4B5E-9EF0-CAF6A3329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2790825"/>
            <a:ext cx="4000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DFF"/>
          </a:solidFill>
          <a:ln xmlns:a="http://schemas.openxmlformats.org/drawingml/2006/main" w="0">
            <a:solidFill>
              <a:srgbClr val="D9EDFF"/>
            </a:solidFill>
            <a:prstDash val="solid"/>
          </a:ln>
        </p:spPr>
      </p:sp>
      <p:sp>
        <p:nvSpPr>
          <p:cNvPr id="6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6BDDE719-CFCD-4895-BB65-91613169B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2790825"/>
            <a:ext cx="4000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DFF"/>
          </a:solidFill>
          <a:ln xmlns:a="http://schemas.openxmlformats.org/drawingml/2006/main" w="0">
            <a:solidFill>
              <a:srgbClr val="D9EDFF"/>
            </a:solidFill>
            <a:prstDash val="solid"/>
          </a:ln>
        </p:spPr>
      </p:sp>
      <p:sp>
        <p:nvSpPr>
          <p:cNvPr id="7" name="flow-arrow-3">
            <a:extLst xmlns:a="http://schemas.openxmlformats.org/drawingml/2006/main">
              <a:ext uri="{FF2B5EF4-FFF2-40B4-BE49-F238E27FC236}">
                <a16:creationId xmlns:a16="http://schemas.microsoft.com/office/drawing/2014/main" id="{C88E1125-44F3-4942-AB14-F2E410E5E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2790825"/>
            <a:ext cx="4000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DFF"/>
          </a:solidFill>
          <a:ln xmlns:a="http://schemas.openxmlformats.org/drawingml/2006/main" w="0">
            <a:solidFill>
              <a:srgbClr val="D9EDFF"/>
            </a:solidFill>
            <a:prstDash val="solid"/>
          </a:ln>
        </p:spPr>
      </p:sp>
      <p:sp>
        <p:nvSpPr>
          <p:cNvPr id="8" name="flow-arrow-4">
            <a:extLst xmlns:a="http://schemas.openxmlformats.org/drawingml/2006/main">
              <a:ext uri="{FF2B5EF4-FFF2-40B4-BE49-F238E27FC236}">
                <a16:creationId xmlns:a16="http://schemas.microsoft.com/office/drawing/2014/main" id="{07757110-4668-4009-B5CC-F8A672792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2790825"/>
            <a:ext cx="4000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DFF"/>
          </a:solidFill>
          <a:ln xmlns:a="http://schemas.openxmlformats.org/drawingml/2006/main" w="0">
            <a:solidFill>
              <a:srgbClr val="D9EDFF"/>
            </a:solidFill>
            <a:prstDash val="solid"/>
          </a:ln>
        </p:spPr>
      </p:sp>
      <p:sp>
        <p:nvSpPr>
          <p:cNvPr id="9" name="flow-arrow-5">
            <a:extLst xmlns:a="http://schemas.openxmlformats.org/drawingml/2006/main">
              <a:ext uri="{FF2B5EF4-FFF2-40B4-BE49-F238E27FC236}">
                <a16:creationId xmlns:a16="http://schemas.microsoft.com/office/drawing/2014/main" id="{98B52F93-A433-4018-A3B1-674AA2D3C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790825"/>
            <a:ext cx="4000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DFF"/>
          </a:solidFill>
          <a:ln xmlns:a="http://schemas.openxmlformats.org/drawingml/2006/main" w="0">
            <a:solidFill>
              <a:srgbClr val="D9EDFF"/>
            </a:solidFill>
            <a:prstDash val="solid"/>
          </a:ln>
        </p:spPr>
      </p:sp>
      <p:sp>
        <p:nvSpPr>
          <p:cNvPr id="10" name="flow-node-1">
            <a:extLst xmlns:a="http://schemas.openxmlformats.org/drawingml/2006/main">
              <a:ext uri="{FF2B5EF4-FFF2-40B4-BE49-F238E27FC236}">
                <a16:creationId xmlns:a16="http://schemas.microsoft.com/office/drawing/2014/main" id="{6C77D641-D9FD-444F-B31C-AB5E34D5D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1524000" cy="17145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11" name="flow-num-1">
            <a:extLst xmlns:a="http://schemas.openxmlformats.org/drawingml/2006/main">
              <a:ext uri="{FF2B5EF4-FFF2-40B4-BE49-F238E27FC236}">
                <a16:creationId xmlns:a16="http://schemas.microsoft.com/office/drawing/2014/main" id="{A02AC703-6847-42D3-B461-E7817CB1B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669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12" name="flow-label-1">
            <a:extLst xmlns:a="http://schemas.openxmlformats.org/drawingml/2006/main">
              <a:ext uri="{FF2B5EF4-FFF2-40B4-BE49-F238E27FC236}">
                <a16:creationId xmlns:a16="http://schemas.microsoft.com/office/drawing/2014/main" id="{187EA455-C12C-48D4-B729-72338EB46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1181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1220"/>
                </a:solidFill>
              </a:defRPr>
            </a:pPr>
            <a:r>
              <a:rPr sz="1725" b="1">
                <a:solidFill>
                  <a:srgbClr val="0B1220"/>
                </a:solidFill>
              </a:rPr>
              <a:t>Snapshot</a:t>
            </a:r>
          </a:p>
        </p:txBody>
      </p:sp>
      <p:sp>
        <p:nvSpPr>
          <p:cNvPr id="13" name="flow-detail-1">
            <a:extLst xmlns:a="http://schemas.openxmlformats.org/drawingml/2006/main">
              <a:ext uri="{FF2B5EF4-FFF2-40B4-BE49-F238E27FC236}">
                <a16:creationId xmlns:a16="http://schemas.microsoft.com/office/drawing/2014/main" id="{8427DF7C-CD28-43AE-9CFE-E0955E66F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24200"/>
            <a:ext cx="1200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596579"/>
                </a:solidFill>
              </a:defRPr>
            </a:pPr>
            <a:r>
              <a:rPr sz="1200">
                <a:solidFill>
                  <a:srgbClr val="596579"/>
                </a:solidFill>
              </a:rPr>
              <a:t>Paper account</a:t>
            </a:r>
          </a:p>
          <a:p xmlns:a="http://schemas.openxmlformats.org/drawingml/2006/main">
            <a:pPr>
              <a:buNone/>
              <a:defRPr sz="1200">
                <a:solidFill>
                  <a:srgbClr val="596579"/>
                </a:solidFill>
              </a:defRPr>
            </a:pPr>
            <a:r>
              <a:rPr sz="1200">
                <a:solidFill>
                  <a:srgbClr val="596579"/>
                </a:solidFill>
              </a:rPr>
              <a:t>and market clock</a:t>
            </a:r>
          </a:p>
        </p:txBody>
      </p:sp>
      <p:sp>
        <p:nvSpPr>
          <p:cNvPr id="14" name="flow-node-2">
            <a:extLst xmlns:a="http://schemas.openxmlformats.org/drawingml/2006/main">
              <a:ext uri="{FF2B5EF4-FFF2-40B4-BE49-F238E27FC236}">
                <a16:creationId xmlns:a16="http://schemas.microsoft.com/office/drawing/2014/main" id="{6E9CB3BC-EC1B-4490-8C83-CBFEACFF5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095500"/>
            <a:ext cx="1524000" cy="17145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15" name="flow-num-2">
            <a:extLst xmlns:a="http://schemas.openxmlformats.org/drawingml/2006/main">
              <a:ext uri="{FF2B5EF4-FFF2-40B4-BE49-F238E27FC236}">
                <a16:creationId xmlns:a16="http://schemas.microsoft.com/office/drawing/2014/main" id="{BD585E3A-FEB0-40A6-9652-39E088E31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2669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16" name="flow-label-2">
            <a:extLst xmlns:a="http://schemas.openxmlformats.org/drawingml/2006/main">
              <a:ext uri="{FF2B5EF4-FFF2-40B4-BE49-F238E27FC236}">
                <a16:creationId xmlns:a16="http://schemas.microsoft.com/office/drawing/2014/main" id="{E3A8EA49-A598-4585-96EE-157A4F891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647950"/>
            <a:ext cx="1181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1220"/>
                </a:solidFill>
              </a:defRPr>
            </a:pPr>
            <a:r>
              <a:rPr sz="1725" b="1">
                <a:solidFill>
                  <a:srgbClr val="0B1220"/>
                </a:solidFill>
              </a:rPr>
              <a:t>Scan</a:t>
            </a:r>
          </a:p>
        </p:txBody>
      </p:sp>
      <p:sp>
        <p:nvSpPr>
          <p:cNvPr id="17" name="flow-detail-2">
            <a:extLst xmlns:a="http://schemas.openxmlformats.org/drawingml/2006/main">
              <a:ext uri="{FF2B5EF4-FFF2-40B4-BE49-F238E27FC236}">
                <a16:creationId xmlns:a16="http://schemas.microsoft.com/office/drawing/2014/main" id="{B3BD314D-E729-42D8-A810-91641EC56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124200"/>
            <a:ext cx="1200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596579"/>
                </a:solidFill>
              </a:defRPr>
            </a:pPr>
            <a:r>
              <a:rPr sz="1200">
                <a:solidFill>
                  <a:srgbClr val="596579"/>
                </a:solidFill>
              </a:rPr>
              <a:t>SPY · QQQ</a:t>
            </a:r>
          </a:p>
          <a:p xmlns:a="http://schemas.openxmlformats.org/drawingml/2006/main">
            <a:pPr>
              <a:buNone/>
              <a:defRPr sz="1200">
                <a:solidFill>
                  <a:srgbClr val="596579"/>
                </a:solidFill>
              </a:defRPr>
            </a:pPr>
            <a:r>
              <a:rPr sz="1200">
                <a:solidFill>
                  <a:srgbClr val="596579"/>
                </a:solidFill>
              </a:rPr>
              <a:t>IWM · GLD</a:t>
            </a:r>
          </a:p>
        </p:txBody>
      </p:sp>
      <p:sp>
        <p:nvSpPr>
          <p:cNvPr id="18" name="flow-node-3">
            <a:extLst xmlns:a="http://schemas.openxmlformats.org/drawingml/2006/main">
              <a:ext uri="{FF2B5EF4-FFF2-40B4-BE49-F238E27FC236}">
                <a16:creationId xmlns:a16="http://schemas.microsoft.com/office/drawing/2014/main" id="{3B01B8B9-13F6-4C79-9BAA-7A879F52A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095500"/>
            <a:ext cx="1524000" cy="17145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19" name="flow-num-3">
            <a:extLst xmlns:a="http://schemas.openxmlformats.org/drawingml/2006/main">
              <a:ext uri="{FF2B5EF4-FFF2-40B4-BE49-F238E27FC236}">
                <a16:creationId xmlns:a16="http://schemas.microsoft.com/office/drawing/2014/main" id="{4C393931-C4A4-404F-84A0-6DC1739BE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2669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20" name="flow-label-3">
            <a:extLst xmlns:a="http://schemas.openxmlformats.org/drawingml/2006/main">
              <a:ext uri="{FF2B5EF4-FFF2-40B4-BE49-F238E27FC236}">
                <a16:creationId xmlns:a16="http://schemas.microsoft.com/office/drawing/2014/main" id="{A019CDA7-541E-45D9-BF40-7B404B49A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647950"/>
            <a:ext cx="1181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1220"/>
                </a:solidFill>
              </a:defRPr>
            </a:pPr>
            <a:r>
              <a:rPr sz="1725" b="1">
                <a:solidFill>
                  <a:srgbClr val="0B1220"/>
                </a:solidFill>
              </a:rPr>
              <a:t>Signal</a:t>
            </a:r>
          </a:p>
        </p:txBody>
      </p:sp>
      <p:sp>
        <p:nvSpPr>
          <p:cNvPr id="21" name="flow-detail-3">
            <a:extLst xmlns:a="http://schemas.openxmlformats.org/drawingml/2006/main">
              <a:ext uri="{FF2B5EF4-FFF2-40B4-BE49-F238E27FC236}">
                <a16:creationId xmlns:a16="http://schemas.microsoft.com/office/drawing/2014/main" id="{755B331E-718D-4287-BD84-834930ABB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124200"/>
            <a:ext cx="1200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596579"/>
                </a:solidFill>
              </a:defRPr>
            </a:pPr>
            <a:r>
              <a:rPr sz="1200">
                <a:solidFill>
                  <a:srgbClr val="596579"/>
                </a:solidFill>
              </a:rPr>
              <a:t>Six data-quality</a:t>
            </a:r>
          </a:p>
          <a:p xmlns:a="http://schemas.openxmlformats.org/drawingml/2006/main">
            <a:pPr>
              <a:buNone/>
              <a:defRPr sz="1200">
                <a:solidFill>
                  <a:srgbClr val="596579"/>
                </a:solidFill>
              </a:defRPr>
            </a:pPr>
            <a:r>
              <a:rPr sz="1200">
                <a:solidFill>
                  <a:srgbClr val="596579"/>
                </a:solidFill>
              </a:rPr>
              <a:t>and edge checks</a:t>
            </a:r>
          </a:p>
        </p:txBody>
      </p:sp>
      <p:sp>
        <p:nvSpPr>
          <p:cNvPr id="22" name="flow-node-4">
            <a:extLst xmlns:a="http://schemas.openxmlformats.org/drawingml/2006/main">
              <a:ext uri="{FF2B5EF4-FFF2-40B4-BE49-F238E27FC236}">
                <a16:creationId xmlns:a16="http://schemas.microsoft.com/office/drawing/2014/main" id="{4E20E532-21F0-49C4-A85A-72D6A7B4A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095500"/>
            <a:ext cx="1524000" cy="17145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23" name="flow-num-4">
            <a:extLst xmlns:a="http://schemas.openxmlformats.org/drawingml/2006/main">
              <a:ext uri="{FF2B5EF4-FFF2-40B4-BE49-F238E27FC236}">
                <a16:creationId xmlns:a16="http://schemas.microsoft.com/office/drawing/2014/main" id="{AE356215-1783-40DF-A4A7-EC75D0811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669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04</a:t>
            </a:r>
          </a:p>
        </p:txBody>
      </p:sp>
      <p:sp>
        <p:nvSpPr>
          <p:cNvPr id="24" name="flow-label-4">
            <a:extLst xmlns:a="http://schemas.openxmlformats.org/drawingml/2006/main">
              <a:ext uri="{FF2B5EF4-FFF2-40B4-BE49-F238E27FC236}">
                <a16:creationId xmlns:a16="http://schemas.microsoft.com/office/drawing/2014/main" id="{D4325D52-BC0F-4254-BBD8-0C541216E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47950"/>
            <a:ext cx="1181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1220"/>
                </a:solidFill>
              </a:defRPr>
            </a:pPr>
            <a:r>
              <a:rPr sz="1725" b="1">
                <a:solidFill>
                  <a:srgbClr val="0B1220"/>
                </a:solidFill>
              </a:rPr>
              <a:t>Construct</a:t>
            </a:r>
          </a:p>
        </p:txBody>
      </p:sp>
      <p:sp>
        <p:nvSpPr>
          <p:cNvPr id="25" name="flow-detail-4">
            <a:extLst xmlns:a="http://schemas.openxmlformats.org/drawingml/2006/main">
              <a:ext uri="{FF2B5EF4-FFF2-40B4-BE49-F238E27FC236}">
                <a16:creationId xmlns:a16="http://schemas.microsoft.com/office/drawing/2014/main" id="{68B7E499-058F-4386-A0B7-E0EE4B4B9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124200"/>
            <a:ext cx="1200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596579"/>
                </a:solidFill>
              </a:defRPr>
            </a:pPr>
            <a:r>
              <a:rPr sz="1200">
                <a:solidFill>
                  <a:srgbClr val="596579"/>
                </a:solidFill>
              </a:rPr>
              <a:t>Exact defined-risk</a:t>
            </a:r>
          </a:p>
          <a:p xmlns:a="http://schemas.openxmlformats.org/drawingml/2006/main">
            <a:pPr>
              <a:buNone/>
              <a:defRPr sz="1200">
                <a:solidFill>
                  <a:srgbClr val="596579"/>
                </a:solidFill>
              </a:defRPr>
            </a:pPr>
            <a:r>
              <a:rPr sz="1200">
                <a:solidFill>
                  <a:srgbClr val="596579"/>
                </a:solidFill>
              </a:rPr>
              <a:t>option legs</a:t>
            </a:r>
          </a:p>
        </p:txBody>
      </p:sp>
      <p:sp>
        <p:nvSpPr>
          <p:cNvPr id="26" name="flow-node-5">
            <a:extLst xmlns:a="http://schemas.openxmlformats.org/drawingml/2006/main">
              <a:ext uri="{FF2B5EF4-FFF2-40B4-BE49-F238E27FC236}">
                <a16:creationId xmlns:a16="http://schemas.microsoft.com/office/drawing/2014/main" id="{CC3DB70A-FE4D-4594-91EE-835B92047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95500"/>
            <a:ext cx="1524000" cy="17145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27" name="flow-num-5">
            <a:extLst xmlns:a="http://schemas.openxmlformats.org/drawingml/2006/main">
              <a:ext uri="{FF2B5EF4-FFF2-40B4-BE49-F238E27FC236}">
                <a16:creationId xmlns:a16="http://schemas.microsoft.com/office/drawing/2014/main" id="{A31CD1B9-9505-4F9F-9701-350D3E8B1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669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05</a:t>
            </a:r>
          </a:p>
        </p:txBody>
      </p:sp>
      <p:sp>
        <p:nvSpPr>
          <p:cNvPr id="28" name="flow-label-5">
            <a:extLst xmlns:a="http://schemas.openxmlformats.org/drawingml/2006/main">
              <a:ext uri="{FF2B5EF4-FFF2-40B4-BE49-F238E27FC236}">
                <a16:creationId xmlns:a16="http://schemas.microsoft.com/office/drawing/2014/main" id="{EB09A5A9-D6C6-4E5E-A92B-86612D15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47950"/>
            <a:ext cx="1181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1220"/>
                </a:solidFill>
              </a:defRPr>
            </a:pPr>
            <a:r>
              <a:rPr sz="1725" b="1">
                <a:solidFill>
                  <a:srgbClr val="0B1220"/>
                </a:solidFill>
              </a:rPr>
              <a:t>Council</a:t>
            </a:r>
          </a:p>
        </p:txBody>
      </p:sp>
      <p:sp>
        <p:nvSpPr>
          <p:cNvPr id="29" name="flow-detail-5">
            <a:extLst xmlns:a="http://schemas.openxmlformats.org/drawingml/2006/main">
              <a:ext uri="{FF2B5EF4-FFF2-40B4-BE49-F238E27FC236}">
                <a16:creationId xmlns:a16="http://schemas.microsoft.com/office/drawing/2014/main" id="{47842CFB-E7F2-4624-B0B6-BAAEC78A4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24200"/>
            <a:ext cx="1200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596579"/>
                </a:solidFill>
              </a:defRPr>
            </a:pPr>
            <a:r>
              <a:rPr sz="1200">
                <a:solidFill>
                  <a:srgbClr val="596579"/>
                </a:solidFill>
              </a:rPr>
              <a:t>Five</a:t>
            </a:r>
            <a:r>
              <a:rPr sz="1200">
                <a:solidFill>
                  <a:srgbClr val="596579"/>
                </a:solidFill>
              </a:rPr>
              <a:t> transparent</a:t>
            </a:r>
          </a:p>
          <a:p xmlns:a="http://schemas.openxmlformats.org/drawingml/2006/main">
            <a:pPr>
              <a:buNone/>
              <a:defRPr sz="1200">
                <a:solidFill>
                  <a:srgbClr val="596579"/>
                </a:solidFill>
              </a:defRPr>
            </a:pPr>
            <a:r>
              <a:rPr sz="1200">
                <a:solidFill>
                  <a:srgbClr val="596579"/>
                </a:solidFill>
              </a:rPr>
              <a:t>specialists</a:t>
            </a:r>
          </a:p>
        </p:txBody>
      </p:sp>
      <p:sp>
        <p:nvSpPr>
          <p:cNvPr id="30" name="flow-node-6">
            <a:extLst xmlns:a="http://schemas.openxmlformats.org/drawingml/2006/main">
              <a:ext uri="{FF2B5EF4-FFF2-40B4-BE49-F238E27FC236}">
                <a16:creationId xmlns:a16="http://schemas.microsoft.com/office/drawing/2014/main" id="{9B5FA3F6-00E6-4116-B519-73F2D68A1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095500"/>
            <a:ext cx="1524000" cy="17145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DDF6EC"/>
          </a:solidFill>
          <a:ln xmlns:a="http://schemas.openxmlformats.org/drawingml/2006/main" w="9525">
            <a:solidFill>
              <a:srgbClr val="19A974"/>
            </a:solidFill>
            <a:prstDash val="solid"/>
          </a:ln>
        </p:spPr>
      </p:sp>
      <p:sp>
        <p:nvSpPr>
          <p:cNvPr id="31" name="flow-num-6">
            <a:extLst xmlns:a="http://schemas.openxmlformats.org/drawingml/2006/main">
              <a:ext uri="{FF2B5EF4-FFF2-40B4-BE49-F238E27FC236}">
                <a16:creationId xmlns:a16="http://schemas.microsoft.com/office/drawing/2014/main" id="{6D659706-1F5C-4B2C-AA4F-5F697E113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2669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9A974"/>
                </a:solidFill>
              </a:defRPr>
            </a:pPr>
            <a:r>
              <a:rPr sz="1200" b="1">
                <a:solidFill>
                  <a:srgbClr val="19A974"/>
                </a:solidFill>
              </a:rPr>
              <a:t>06</a:t>
            </a:r>
          </a:p>
        </p:txBody>
      </p:sp>
      <p:sp>
        <p:nvSpPr>
          <p:cNvPr id="32" name="flow-label-6">
            <a:extLst xmlns:a="http://schemas.openxmlformats.org/drawingml/2006/main">
              <a:ext uri="{FF2B5EF4-FFF2-40B4-BE49-F238E27FC236}">
                <a16:creationId xmlns:a16="http://schemas.microsoft.com/office/drawing/2014/main" id="{2B04FA19-5EBA-4565-8E4D-B83436A9C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647950"/>
            <a:ext cx="1181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1220"/>
                </a:solidFill>
              </a:defRPr>
            </a:pPr>
            <a:r>
              <a:rPr sz="1725" b="1">
                <a:solidFill>
                  <a:srgbClr val="0B1220"/>
                </a:solidFill>
              </a:rPr>
              <a:t>Govern</a:t>
            </a:r>
          </a:p>
        </p:txBody>
      </p:sp>
      <p:sp>
        <p:nvSpPr>
          <p:cNvPr id="33" name="flow-detail-6">
            <a:extLst xmlns:a="http://schemas.openxmlformats.org/drawingml/2006/main">
              <a:ext uri="{FF2B5EF4-FFF2-40B4-BE49-F238E27FC236}">
                <a16:creationId xmlns:a16="http://schemas.microsoft.com/office/drawing/2014/main" id="{0CCEDC6F-F58B-44A9-9BE2-973C6C2F5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124200"/>
            <a:ext cx="1200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596579"/>
                </a:solidFill>
              </a:defRPr>
            </a:pPr>
            <a:r>
              <a:rPr sz="1200">
                <a:solidFill>
                  <a:srgbClr val="596579"/>
                </a:solidFill>
              </a:rPr>
              <a:t>Fourteen</a:t>
            </a:r>
            <a:r>
              <a:rPr sz="1200">
                <a:solidFill>
                  <a:srgbClr val="596579"/>
                </a:solidFill>
              </a:rPr>
              <a:t> gates</a:t>
            </a:r>
          </a:p>
          <a:p xmlns:a="http://schemas.openxmlformats.org/drawingml/2006/main">
            <a:pPr>
              <a:buNone/>
              <a:defRPr sz="1200">
                <a:solidFill>
                  <a:srgbClr val="596579"/>
                </a:solidFill>
              </a:defRPr>
            </a:pPr>
            <a:r>
              <a:rPr sz="1200">
                <a:solidFill>
                  <a:srgbClr val="596579"/>
                </a:solidFill>
              </a:rPr>
              <a:t>or abstain</a:t>
            </a:r>
          </a:p>
        </p:txBody>
      </p:sp>
      <p:sp>
        <p:nvSpPr>
          <p:cNvPr id="34" name="process-meaning">
            <a:extLst xmlns:a="http://schemas.openxmlformats.org/drawingml/2006/main">
              <a:ext uri="{FF2B5EF4-FFF2-40B4-BE49-F238E27FC236}">
                <a16:creationId xmlns:a16="http://schemas.microsoft.com/office/drawing/2014/main" id="{6503AB0C-3ED9-4212-8B11-0079D0D47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B1220"/>
                </a:solidFill>
              </a:defRPr>
            </a:pPr>
            <a:r>
              <a:rPr sz="2250" b="1">
                <a:solidFill>
                  <a:srgbClr val="0B1220"/>
                </a:solidFill>
              </a:rPr>
              <a:t>A failed input is a decision—not a missing result.</a:t>
            </a:r>
          </a:p>
        </p:txBody>
      </p:sp>
      <p:sp>
        <p:nvSpPr>
          <p:cNvPr id="35" name="process-detail">
            <a:extLst xmlns:a="http://schemas.openxmlformats.org/drawingml/2006/main">
              <a:ext uri="{FF2B5EF4-FFF2-40B4-BE49-F238E27FC236}">
                <a16:creationId xmlns:a16="http://schemas.microsoft.com/office/drawing/2014/main" id="{66BB6268-761B-4206-B5A6-68D7BE527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863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596579"/>
                </a:solidFill>
              </a:defRPr>
            </a:pPr>
            <a:r>
              <a:rPr sz="1500">
                <a:solidFill>
                  <a:srgbClr val="596579"/>
                </a:solidFill>
              </a:rPr>
              <a:t>VolGuard records candidates, blocks, and abstentions so the operator can review the full opportunity set instead of only the trades that survived.</a:t>
            </a:r>
          </a:p>
        </p:txBody>
      </p:sp>
    </p:spTree>
    <p:extLst>
      <p:ext uri="{BB962C8B-B14F-4D97-AF65-F5344CB8AC3E}">
        <p14:creationId xmlns:p14="http://schemas.microsoft.com/office/powerpoint/2010/main" val="3428988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lide-3-eyebrow">
            <a:extLst xmlns:a="http://schemas.openxmlformats.org/drawingml/2006/main">
              <a:ext uri="{FF2B5EF4-FFF2-40B4-BE49-F238E27FC236}">
                <a16:creationId xmlns:a16="http://schemas.microsoft.com/office/drawing/2014/main" id="{D087AA5D-54B0-4611-9702-267519D5F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542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VOLGUARD AI  /  ALPACA PAPER OPTIONS</a:t>
            </a:r>
          </a:p>
        </p:txBody>
      </p:sp>
      <p:sp>
        <p:nvSpPr>
          <p:cNvPr id="2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191D6D1C-1F96-4D58-A603-67911DC1B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125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0B1220"/>
                </a:solidFill>
              </a:defRPr>
            </a:pPr>
            <a:r>
              <a:rPr sz="3150" b="1">
                <a:solidFill>
                  <a:srgbClr val="0B1220"/>
                </a:solidFill>
              </a:rPr>
              <a:t>Risk is policy, not a prompt</a:t>
            </a:r>
          </a:p>
        </p:txBody>
      </p:sp>
      <p:sp>
        <p:nvSpPr>
          <p:cNvPr id="3" name="slide-3-rule">
            <a:extLst xmlns:a="http://schemas.openxmlformats.org/drawingml/2006/main">
              <a:ext uri="{FF2B5EF4-FFF2-40B4-BE49-F238E27FC236}">
                <a16:creationId xmlns:a16="http://schemas.microsoft.com/office/drawing/2014/main" id="{F22D9B72-26C9-4C14-B45D-43F2B1FF0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4" name="slide-3-number">
            <a:extLst xmlns:a="http://schemas.openxmlformats.org/drawingml/2006/main">
              <a:ext uri="{FF2B5EF4-FFF2-40B4-BE49-F238E27FC236}">
                <a16:creationId xmlns:a16="http://schemas.microsoft.com/office/drawing/2014/main" id="{705263EF-AFA4-4F73-B4DD-20D86E319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>
                <a:solidFill>
                  <a:srgbClr val="596579"/>
                </a:solidFill>
              </a:defRPr>
            </a:pPr>
            <a:r>
              <a:rPr sz="900">
                <a:solidFill>
                  <a:srgbClr val="596579"/>
                </a:solidFill>
              </a:rPr>
              <a:t>03</a:t>
            </a:r>
          </a:p>
        </p:txBody>
      </p:sp>
      <p:sp>
        <p:nvSpPr>
          <p:cNvPr id="5" name="risk-intro">
            <a:extLst xmlns:a="http://schemas.openxmlformats.org/drawingml/2006/main">
              <a:ext uri="{FF2B5EF4-FFF2-40B4-BE49-F238E27FC236}">
                <a16:creationId xmlns:a16="http://schemas.microsoft.com/office/drawing/2014/main" id="{7729F32A-66F2-4487-96F2-F1AE95A6F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71600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596579"/>
                </a:solidFill>
              </a:defRPr>
            </a:pPr>
            <a:r>
              <a:rPr sz="1575">
                <a:solidFill>
                  <a:srgbClr val="596579"/>
                </a:solidFill>
              </a:rPr>
              <a:t>The specialist council explains the evidence. Only the deterministic governor can approve a proposal.</a:t>
            </a:r>
          </a:p>
        </p:txBody>
      </p:sp>
      <p:sp>
        <p:nvSpPr>
          <p:cNvPr id="6" name="risk-metric-1">
            <a:extLst xmlns:a="http://schemas.openxmlformats.org/drawingml/2006/main">
              <a:ext uri="{FF2B5EF4-FFF2-40B4-BE49-F238E27FC236}">
                <a16:creationId xmlns:a16="http://schemas.microsoft.com/office/drawing/2014/main" id="{0D36CED9-716D-49B3-B795-61C06771C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90750"/>
            <a:ext cx="34290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D9E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7" name="risk-stat-1">
            <a:extLst xmlns:a="http://schemas.openxmlformats.org/drawingml/2006/main">
              <a:ext uri="{FF2B5EF4-FFF2-40B4-BE49-F238E27FC236}">
                <a16:creationId xmlns:a16="http://schemas.microsoft.com/office/drawing/2014/main" id="{B8F6CDB7-CB2C-4EFB-AF6A-757577446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28875"/>
            <a:ext cx="2914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4050" b="1">
                <a:solidFill>
                  <a:srgbClr val="3D8DFF"/>
                </a:solidFill>
              </a:defRPr>
            </a:pPr>
            <a:r>
              <a:rPr sz="4050" b="1">
                <a:solidFill>
                  <a:srgbClr val="3D8DFF"/>
                </a:solidFill>
              </a:rPr>
              <a:t>14</a:t>
            </a:r>
          </a:p>
        </p:txBody>
      </p:sp>
      <p:sp>
        <p:nvSpPr>
          <p:cNvPr id="8" name="risk-label-1">
            <a:extLst xmlns:a="http://schemas.openxmlformats.org/drawingml/2006/main">
              <a:ext uri="{FF2B5EF4-FFF2-40B4-BE49-F238E27FC236}">
                <a16:creationId xmlns:a16="http://schemas.microsoft.com/office/drawing/2014/main" id="{3D78EA5B-B495-4095-8B1F-73A2AFD7D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1945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hard gates</a:t>
            </a:r>
          </a:p>
        </p:txBody>
      </p:sp>
      <p:sp>
        <p:nvSpPr>
          <p:cNvPr id="9" name="risk-detail-1">
            <a:extLst xmlns:a="http://schemas.openxmlformats.org/drawingml/2006/main">
              <a:ext uri="{FF2B5EF4-FFF2-40B4-BE49-F238E27FC236}">
                <a16:creationId xmlns:a16="http://schemas.microsoft.com/office/drawing/2014/main" id="{6CE19BAC-8F96-4E57-885B-80C4C7B0B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76650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596579"/>
                </a:solidFill>
              </a:defRPr>
            </a:pPr>
            <a:r>
              <a:rPr sz="1275">
                <a:solidFill>
                  <a:srgbClr val="596579"/>
                </a:solidFill>
              </a:rPr>
              <a:t>All must pass</a:t>
            </a:r>
          </a:p>
        </p:txBody>
      </p:sp>
      <p:sp>
        <p:nvSpPr>
          <p:cNvPr id="10" name="risk-metric-2">
            <a:extLst xmlns:a="http://schemas.openxmlformats.org/drawingml/2006/main">
              <a:ext uri="{FF2B5EF4-FFF2-40B4-BE49-F238E27FC236}">
                <a16:creationId xmlns:a16="http://schemas.microsoft.com/office/drawing/2014/main" id="{834E3072-67DB-416A-A8AA-4FC347F71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90750"/>
            <a:ext cx="34290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11" name="risk-stat-2">
            <a:extLst xmlns:a="http://schemas.openxmlformats.org/drawingml/2006/main">
              <a:ext uri="{FF2B5EF4-FFF2-40B4-BE49-F238E27FC236}">
                <a16:creationId xmlns:a16="http://schemas.microsoft.com/office/drawing/2014/main" id="{859D144C-FA94-4EFE-B805-840B74E82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28875"/>
            <a:ext cx="2914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4050" b="1">
                <a:solidFill>
                  <a:srgbClr val="0B1220"/>
                </a:solidFill>
              </a:defRPr>
            </a:pPr>
            <a:r>
              <a:rPr sz="4050" b="1">
                <a:solidFill>
                  <a:srgbClr val="0B1220"/>
                </a:solidFill>
              </a:rPr>
              <a:t>$500</a:t>
            </a:r>
          </a:p>
        </p:txBody>
      </p:sp>
      <p:sp>
        <p:nvSpPr>
          <p:cNvPr id="12" name="risk-label-2">
            <a:extLst xmlns:a="http://schemas.openxmlformats.org/drawingml/2006/main">
              <a:ext uri="{FF2B5EF4-FFF2-40B4-BE49-F238E27FC236}">
                <a16:creationId xmlns:a16="http://schemas.microsoft.com/office/drawing/2014/main" id="{5E5B5042-ADA1-473B-AD0B-E104FD262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21945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max loss / strategy</a:t>
            </a:r>
          </a:p>
        </p:txBody>
      </p:sp>
      <p:sp>
        <p:nvSpPr>
          <p:cNvPr id="13" name="risk-detail-2">
            <a:extLst xmlns:a="http://schemas.openxmlformats.org/drawingml/2006/main">
              <a:ext uri="{FF2B5EF4-FFF2-40B4-BE49-F238E27FC236}">
                <a16:creationId xmlns:a16="http://schemas.microsoft.com/office/drawing/2014/main" id="{61AD19C0-D167-48FA-9E23-5A4BF1571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676650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596579"/>
                </a:solidFill>
              </a:defRPr>
            </a:pPr>
            <a:r>
              <a:rPr sz="1275">
                <a:solidFill>
                  <a:srgbClr val="596579"/>
                </a:solidFill>
              </a:rPr>
              <a:t>Defined before entry</a:t>
            </a:r>
          </a:p>
        </p:txBody>
      </p:sp>
      <p:sp>
        <p:nvSpPr>
          <p:cNvPr id="14" name="risk-metric-3">
            <a:extLst xmlns:a="http://schemas.openxmlformats.org/drawingml/2006/main">
              <a:ext uri="{FF2B5EF4-FFF2-40B4-BE49-F238E27FC236}">
                <a16:creationId xmlns:a16="http://schemas.microsoft.com/office/drawing/2014/main" id="{FA44F81C-71E0-47C7-8623-3E9F579DB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190750"/>
            <a:ext cx="34290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15" name="risk-stat-3">
            <a:extLst xmlns:a="http://schemas.openxmlformats.org/drawingml/2006/main">
              <a:ext uri="{FF2B5EF4-FFF2-40B4-BE49-F238E27FC236}">
                <a16:creationId xmlns:a16="http://schemas.microsoft.com/office/drawing/2014/main" id="{F9A7CF6D-6611-4F04-AC57-B0DA0D1A1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28875"/>
            <a:ext cx="2914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4050" b="1">
                <a:solidFill>
                  <a:srgbClr val="0B1220"/>
                </a:solidFill>
              </a:defRPr>
            </a:pPr>
            <a:r>
              <a:rPr sz="4050" b="1">
                <a:solidFill>
                  <a:srgbClr val="0B1220"/>
                </a:solidFill>
              </a:rPr>
              <a:t>$1,000</a:t>
            </a:r>
          </a:p>
        </p:txBody>
      </p:sp>
      <p:sp>
        <p:nvSpPr>
          <p:cNvPr id="16" name="risk-label-3">
            <a:extLst xmlns:a="http://schemas.openxmlformats.org/drawingml/2006/main">
              <a:ext uri="{FF2B5EF4-FFF2-40B4-BE49-F238E27FC236}">
                <a16:creationId xmlns:a16="http://schemas.microsoft.com/office/drawing/2014/main" id="{02F800D2-7B25-4042-B27F-4B994A56B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1945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combined open risk</a:t>
            </a:r>
          </a:p>
        </p:txBody>
      </p:sp>
      <p:sp>
        <p:nvSpPr>
          <p:cNvPr id="17" name="risk-detail-3">
            <a:extLst xmlns:a="http://schemas.openxmlformats.org/drawingml/2006/main">
              <a:ext uri="{FF2B5EF4-FFF2-40B4-BE49-F238E27FC236}">
                <a16:creationId xmlns:a16="http://schemas.microsoft.com/office/drawing/2014/main" id="{4DA19358-C2D6-480E-A17D-FA13FACEF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76650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596579"/>
                </a:solidFill>
              </a:defRPr>
            </a:pPr>
            <a:r>
              <a:rPr sz="1275">
                <a:solidFill>
                  <a:srgbClr val="596579"/>
                </a:solidFill>
              </a:rPr>
              <a:t>At most two strategies</a:t>
            </a:r>
          </a:p>
        </p:txBody>
      </p:sp>
      <p:sp>
        <p:nvSpPr>
          <p:cNvPr id="18" name="risk-list-a">
            <a:extLst xmlns:a="http://schemas.openxmlformats.org/drawingml/2006/main">
              <a:ext uri="{FF2B5EF4-FFF2-40B4-BE49-F238E27FC236}">
                <a16:creationId xmlns:a16="http://schemas.microsoft.com/office/drawing/2014/main" id="{7118C727-67C3-44DB-BBD9-3D198469A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24400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0B1220"/>
                </a:solidFill>
              </a:defRPr>
            </a:pPr>
            <a:r>
              <a:rPr sz="1350" b="1">
                <a:solidFill>
                  <a:srgbClr val="0B1220"/>
                </a:solidFill>
              </a:rPr>
              <a:t>Paper only  •  Defined loss  •  Covered shorts  •  No same-day expiry  •  Reward/risk ≥ 0.25x</a:t>
            </a:r>
          </a:p>
        </p:txBody>
      </p:sp>
      <p:sp>
        <p:nvSpPr>
          <p:cNvPr id="19" name="risk-list-b">
            <a:extLst xmlns:a="http://schemas.openxmlformats.org/drawingml/2006/main">
              <a:ext uri="{FF2B5EF4-FFF2-40B4-BE49-F238E27FC236}">
                <a16:creationId xmlns:a16="http://schemas.microsoft.com/office/drawing/2014/main" id="{637626DC-9844-4242-8484-D025442DE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62550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0B1220"/>
                </a:solidFill>
              </a:defRPr>
            </a:pPr>
            <a:r>
              <a:rPr sz="1350" b="1">
                <a:solidFill>
                  <a:srgbClr val="0B1220"/>
                </a:solidFill>
              </a:rPr>
              <a:t>Quote ≤ 60s  •  Spread ≤ 12%  •  Confidence ≥ 65%  •  Drawdown  •  Capacity  •  One symbol</a:t>
            </a:r>
          </a:p>
        </p:txBody>
      </p:sp>
      <p:sp>
        <p:nvSpPr>
          <p:cNvPr id="20" name="risk-veto">
            <a:extLst xmlns:a="http://schemas.openxmlformats.org/drawingml/2006/main">
              <a:ext uri="{FF2B5EF4-FFF2-40B4-BE49-F238E27FC236}">
                <a16:creationId xmlns:a16="http://schemas.microsoft.com/office/drawing/2014/main" id="{435BBA6B-06E1-4511-A714-D7F38AF2E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578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C73E4D"/>
                </a:solidFill>
              </a:defRPr>
            </a:pPr>
            <a:r>
              <a:rPr sz="1500" b="1">
                <a:solidFill>
                  <a:srgbClr val="C73E4D"/>
                </a:solidFill>
              </a:rPr>
              <a:t>Any mismatch, stale quote, memory conflict, or red-team veto stops the workflow.</a:t>
            </a:r>
          </a:p>
        </p:txBody>
      </p:sp>
    </p:spTree>
    <p:extLst>
      <p:ext uri="{BB962C8B-B14F-4D97-AF65-F5344CB8AC3E}">
        <p14:creationId xmlns:p14="http://schemas.microsoft.com/office/powerpoint/2010/main" val="3978707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slide-4-eyebrow">
            <a:extLst xmlns:a="http://schemas.openxmlformats.org/drawingml/2006/main">
              <a:ext uri="{FF2B5EF4-FFF2-40B4-BE49-F238E27FC236}">
                <a16:creationId xmlns:a16="http://schemas.microsoft.com/office/drawing/2014/main" id="{1508EE72-AD97-454C-88C9-0CF99B199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542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VOLGUARD AI  /  ALPACA PAPER OPTIONS</a:t>
            </a:r>
          </a:p>
        </p:txBody>
      </p:sp>
      <p:sp>
        <p:nvSpPr>
          <p:cNvPr id="2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BDA5B00C-A9BA-4E5B-89CE-B4421FBEB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125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0B1220"/>
                </a:solidFill>
              </a:defRPr>
            </a:pPr>
            <a:r>
              <a:rPr sz="3150" b="1">
                <a:solidFill>
                  <a:srgbClr val="0B1220"/>
                </a:solidFill>
              </a:rPr>
              <a:t>Live evidence improved the governor</a:t>
            </a:r>
          </a:p>
        </p:txBody>
      </p:sp>
      <p:sp>
        <p:nvSpPr>
          <p:cNvPr id="3" name="slide-4-rule">
            <a:extLst xmlns:a="http://schemas.openxmlformats.org/drawingml/2006/main">
              <a:ext uri="{FF2B5EF4-FFF2-40B4-BE49-F238E27FC236}">
                <a16:creationId xmlns:a16="http://schemas.microsoft.com/office/drawing/2014/main" id="{8E171F26-8AB1-41E3-8E16-107541C47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4" name="slide-4-number">
            <a:extLst xmlns:a="http://schemas.openxmlformats.org/drawingml/2006/main">
              <a:ext uri="{FF2B5EF4-FFF2-40B4-BE49-F238E27FC236}">
                <a16:creationId xmlns:a16="http://schemas.microsoft.com/office/drawing/2014/main" id="{7335F05B-D41E-4637-A7E7-A07A8B082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>
                <a:solidFill>
                  <a:srgbClr val="596579"/>
                </a:solidFill>
              </a:defRPr>
            </a:pPr>
            <a:r>
              <a:rPr sz="900">
                <a:solidFill>
                  <a:srgbClr val="596579"/>
                </a:solidFill>
              </a:rPr>
              <a:t>04</a:t>
            </a:r>
          </a:p>
        </p:txBody>
      </p:sp>
      <p:sp>
        <p:nvSpPr>
          <p:cNvPr id="5" name="trade-symbol">
            <a:extLst xmlns:a="http://schemas.openxmlformats.org/drawingml/2006/main">
              <a:ext uri="{FF2B5EF4-FFF2-40B4-BE49-F238E27FC236}">
                <a16:creationId xmlns:a16="http://schemas.microsoft.com/office/drawing/2014/main" id="{D20C9656-A3E2-4DE7-8E1A-155B7D88F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171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4350" b="1">
                <a:solidFill>
                  <a:srgbClr val="3D8DFF"/>
                </a:solidFill>
              </a:defRPr>
            </a:pPr>
            <a:r>
              <a:rPr sz="4350" b="1">
                <a:solidFill>
                  <a:srgbClr val="3D8DFF"/>
                </a:solidFill>
              </a:rPr>
              <a:t>GLD</a:t>
            </a:r>
          </a:p>
        </p:txBody>
      </p:sp>
      <p:sp>
        <p:nvSpPr>
          <p:cNvPr id="6" name="trade-structure">
            <a:extLst xmlns:a="http://schemas.openxmlformats.org/drawingml/2006/main">
              <a:ext uri="{FF2B5EF4-FFF2-40B4-BE49-F238E27FC236}">
                <a16:creationId xmlns:a16="http://schemas.microsoft.com/office/drawing/2014/main" id="{28030ACB-9296-404B-9A1B-F36D2B40F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05050"/>
            <a:ext cx="504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SEP 11  ·  407 / 412 / 417 BUTTERFLY</a:t>
            </a:r>
          </a:p>
        </p:txBody>
      </p:sp>
      <p:sp>
        <p:nvSpPr>
          <p:cNvPr id="7" name="trade-leg-1">
            <a:extLst xmlns:a="http://schemas.openxmlformats.org/drawingml/2006/main">
              <a:ext uri="{FF2B5EF4-FFF2-40B4-BE49-F238E27FC236}">
                <a16:creationId xmlns:a16="http://schemas.microsoft.com/office/drawing/2014/main" id="{B1483402-AF70-4D59-820D-83D2F1A75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0990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B1220"/>
                </a:solidFill>
              </a:defRPr>
            </a:pPr>
            <a:r>
              <a:rPr sz="1875" b="1">
                <a:solidFill>
                  <a:srgbClr val="0B1220"/>
                </a:solidFill>
              </a:rPr>
              <a:t>BUY   1 × 412 CALL + PUT</a:t>
            </a:r>
          </a:p>
        </p:txBody>
      </p:sp>
      <p:sp>
        <p:nvSpPr>
          <p:cNvPr id="8" name="trade-leg-2">
            <a:extLst xmlns:a="http://schemas.openxmlformats.org/drawingml/2006/main">
              <a:ext uri="{FF2B5EF4-FFF2-40B4-BE49-F238E27FC236}">
                <a16:creationId xmlns:a16="http://schemas.microsoft.com/office/drawing/2014/main" id="{BAAD1211-7D97-414C-A42A-4DD690548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8615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B1220"/>
                </a:solidFill>
              </a:defRPr>
            </a:pPr>
            <a:r>
              <a:rPr sz="1875" b="1">
                <a:solidFill>
                  <a:srgbClr val="0B1220"/>
                </a:solidFill>
              </a:rPr>
              <a:t>SELL  1 × 417 CALL + 407 PUT</a:t>
            </a:r>
          </a:p>
        </p:txBody>
      </p:sp>
      <p:sp>
        <p:nvSpPr>
          <p:cNvPr id="9" name="trade-economics">
            <a:extLst xmlns:a="http://schemas.openxmlformats.org/drawingml/2006/main">
              <a:ext uri="{FF2B5EF4-FFF2-40B4-BE49-F238E27FC236}">
                <a16:creationId xmlns:a16="http://schemas.microsoft.com/office/drawing/2014/main" id="{0DD94296-6575-4BA7-B711-7CB5EA733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10050"/>
            <a:ext cx="493395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D9E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0" name="trade-limit">
            <a:extLst xmlns:a="http://schemas.openxmlformats.org/drawingml/2006/main">
              <a:ext uri="{FF2B5EF4-FFF2-40B4-BE49-F238E27FC236}">
                <a16:creationId xmlns:a16="http://schemas.microsoft.com/office/drawing/2014/main" id="{77C00FE4-1107-4BD3-A780-FEAA5DF73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386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B1220"/>
                </a:solidFill>
              </a:defRPr>
            </a:pPr>
            <a:r>
              <a:rPr sz="2100" b="1">
                <a:solidFill>
                  <a:srgbClr val="0B1220"/>
                </a:solidFill>
              </a:rPr>
              <a:t>$4.76 limit</a:t>
            </a:r>
          </a:p>
        </p:txBody>
      </p:sp>
      <p:sp>
        <p:nvSpPr>
          <p:cNvPr id="11" name="trade-fill">
            <a:extLst xmlns:a="http://schemas.openxmlformats.org/drawingml/2006/main">
              <a:ext uri="{FF2B5EF4-FFF2-40B4-BE49-F238E27FC236}">
                <a16:creationId xmlns:a16="http://schemas.microsoft.com/office/drawing/2014/main" id="{1D50969B-5E34-4572-ACD3-6CFCBEFF1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4386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9A974"/>
                </a:solidFill>
              </a:defRPr>
            </a:pPr>
            <a:r>
              <a:rPr sz="2100" b="1">
                <a:solidFill>
                  <a:srgbClr val="19A974"/>
                </a:solidFill>
              </a:rPr>
              <a:t>$4.55 fill</a:t>
            </a:r>
          </a:p>
        </p:txBody>
      </p:sp>
      <p:sp>
        <p:nvSpPr>
          <p:cNvPr id="12" name="trade-maxloss">
            <a:extLst xmlns:a="http://schemas.openxmlformats.org/drawingml/2006/main">
              <a:ext uri="{FF2B5EF4-FFF2-40B4-BE49-F238E27FC236}">
                <a16:creationId xmlns:a16="http://schemas.microsoft.com/office/drawing/2014/main" id="{B2A1BD9A-E42C-4246-B529-E5115AA80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48250"/>
            <a:ext cx="433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596579"/>
                </a:solidFill>
              </a:defRPr>
            </a:pPr>
            <a:r>
              <a:rPr sz="1350">
                <a:solidFill>
                  <a:srgbClr val="596579"/>
                </a:solidFill>
              </a:rPr>
              <a:t>$476 max loss  ·  $24 pre-trade max profit</a:t>
            </a:r>
          </a:p>
        </p:txBody>
      </p:sp>
      <p:sp>
        <p:nvSpPr>
          <p:cNvPr id="13" name="evidence-timeline-line">
            <a:extLst xmlns:a="http://schemas.openxmlformats.org/drawingml/2006/main">
              <a:ext uri="{FF2B5EF4-FFF2-40B4-BE49-F238E27FC236}">
                <a16:creationId xmlns:a16="http://schemas.microsoft.com/office/drawing/2014/main" id="{35B37C36-F424-4582-A746-53477E458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1981200"/>
            <a:ext cx="0" cy="3314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BD3DF"/>
            </a:solidFill>
            <a:prstDash val="solid"/>
          </a:ln>
        </p:spPr>
      </p:sp>
      <p:sp>
        <p:nvSpPr>
          <p:cNvPr id="14" name="evidence-dot-1">
            <a:extLst xmlns:a="http://schemas.openxmlformats.org/drawingml/2006/main">
              <a:ext uri="{FF2B5EF4-FFF2-40B4-BE49-F238E27FC236}">
                <a16:creationId xmlns:a16="http://schemas.microsoft.com/office/drawing/2014/main" id="{C210DEF5-3009-4810-9F2E-77A2457FA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478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DFF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15" name="evidence-n-1">
            <a:extLst xmlns:a="http://schemas.openxmlformats.org/drawingml/2006/main">
              <a:ext uri="{FF2B5EF4-FFF2-40B4-BE49-F238E27FC236}">
                <a16:creationId xmlns:a16="http://schemas.microsoft.com/office/drawing/2014/main" id="{C11E42BE-A503-4BB1-8C9F-4F4980BDF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14525"/>
            <a:ext cx="152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1</a:t>
            </a:r>
          </a:p>
        </p:txBody>
      </p:sp>
      <p:sp>
        <p:nvSpPr>
          <p:cNvPr id="16" name="evidence-label-1">
            <a:extLst xmlns:a="http://schemas.openxmlformats.org/drawingml/2006/main">
              <a:ext uri="{FF2B5EF4-FFF2-40B4-BE49-F238E27FC236}">
                <a16:creationId xmlns:a16="http://schemas.microsoft.com/office/drawing/2014/main" id="{63DDD62A-8034-4C5A-90EA-923D0A5CC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8288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Memory-confirmed GLD</a:t>
            </a:r>
          </a:p>
        </p:txBody>
      </p:sp>
      <p:sp>
        <p:nvSpPr>
          <p:cNvPr id="17" name="evidence-detail-1">
            <a:extLst xmlns:a="http://schemas.openxmlformats.org/drawingml/2006/main">
              <a:ext uri="{FF2B5EF4-FFF2-40B4-BE49-F238E27FC236}">
                <a16:creationId xmlns:a16="http://schemas.microsoft.com/office/drawing/2014/main" id="{5A22B369-C9CA-409B-8286-D1DA21EF5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124075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596579"/>
                </a:solidFill>
              </a:defRPr>
            </a:pPr>
            <a:r>
              <a:rPr sz="1200">
                <a:solidFill>
                  <a:srgbClr val="596579"/>
                </a:solidFill>
              </a:rPr>
              <a:t>6/6 scans agreed over 50 minutes</a:t>
            </a:r>
          </a:p>
        </p:txBody>
      </p:sp>
      <p:sp>
        <p:nvSpPr>
          <p:cNvPr id="18" name="evidence-dot-2">
            <a:extLst xmlns:a="http://schemas.openxmlformats.org/drawingml/2006/main">
              <a:ext uri="{FF2B5EF4-FFF2-40B4-BE49-F238E27FC236}">
                <a16:creationId xmlns:a16="http://schemas.microsoft.com/office/drawing/2014/main" id="{97D82843-DBC3-4569-92D9-335FE84A5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908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DFF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19" name="evidence-n-2">
            <a:extLst xmlns:a="http://schemas.openxmlformats.org/drawingml/2006/main">
              <a:ext uri="{FF2B5EF4-FFF2-40B4-BE49-F238E27FC236}">
                <a16:creationId xmlns:a16="http://schemas.microsoft.com/office/drawing/2014/main" id="{FEFAE4C3-9840-4543-B3EA-A9B9B65D5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57475"/>
            <a:ext cx="152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2</a:t>
            </a:r>
          </a:p>
        </p:txBody>
      </p:sp>
      <p:sp>
        <p:nvSpPr>
          <p:cNvPr id="20" name="evidence-label-2">
            <a:extLst xmlns:a="http://schemas.openxmlformats.org/drawingml/2006/main">
              <a:ext uri="{FF2B5EF4-FFF2-40B4-BE49-F238E27FC236}">
                <a16:creationId xmlns:a16="http://schemas.microsoft.com/office/drawing/2014/main" id="{002CD9AB-2F68-4E1A-88BE-3FA66266C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5717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Five specialists approved</a:t>
            </a:r>
          </a:p>
        </p:txBody>
      </p:sp>
      <p:sp>
        <p:nvSpPr>
          <p:cNvPr id="21" name="evidence-detail-2">
            <a:extLst xmlns:a="http://schemas.openxmlformats.org/drawingml/2006/main">
              <a:ext uri="{FF2B5EF4-FFF2-40B4-BE49-F238E27FC236}">
                <a16:creationId xmlns:a16="http://schemas.microsoft.com/office/drawing/2014/main" id="{CB6CCC07-1D87-4B05-BAE5-38A7B6269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867025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596579"/>
                </a:solidFill>
              </a:defRPr>
            </a:pPr>
            <a:r>
              <a:rPr sz="1200">
                <a:solidFill>
                  <a:srgbClr val="596579"/>
                </a:solidFill>
              </a:rPr>
              <a:t>5/5 votes · then-current 13/13 gates</a:t>
            </a:r>
          </a:p>
        </p:txBody>
      </p:sp>
      <p:sp>
        <p:nvSpPr>
          <p:cNvPr id="22" name="evidence-dot-3">
            <a:extLst xmlns:a="http://schemas.openxmlformats.org/drawingml/2006/main">
              <a:ext uri="{FF2B5EF4-FFF2-40B4-BE49-F238E27FC236}">
                <a16:creationId xmlns:a16="http://schemas.microsoft.com/office/drawing/2014/main" id="{037B13F6-2857-45FF-8F9E-D0DA89D10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337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DFF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23" name="evidence-n-3">
            <a:extLst xmlns:a="http://schemas.openxmlformats.org/drawingml/2006/main">
              <a:ext uri="{FF2B5EF4-FFF2-40B4-BE49-F238E27FC236}">
                <a16:creationId xmlns:a16="http://schemas.microsoft.com/office/drawing/2014/main" id="{32B229DF-0DA8-4A61-9645-A7152704B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00425"/>
            <a:ext cx="152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3</a:t>
            </a:r>
          </a:p>
        </p:txBody>
      </p:sp>
      <p:sp>
        <p:nvSpPr>
          <p:cNvPr id="24" name="evidence-label-3">
            <a:extLst xmlns:a="http://schemas.openxmlformats.org/drawingml/2006/main">
              <a:ext uri="{FF2B5EF4-FFF2-40B4-BE49-F238E27FC236}">
                <a16:creationId xmlns:a16="http://schemas.microsoft.com/office/drawing/2014/main" id="{039BF957-286B-4F36-824D-F2EE134D0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3147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Atomic Alpaca dry run</a:t>
            </a:r>
          </a:p>
        </p:txBody>
      </p:sp>
      <p:sp>
        <p:nvSpPr>
          <p:cNvPr id="25" name="evidence-detail-3">
            <a:extLst xmlns:a="http://schemas.openxmlformats.org/drawingml/2006/main">
              <a:ext uri="{FF2B5EF4-FFF2-40B4-BE49-F238E27FC236}">
                <a16:creationId xmlns:a16="http://schemas.microsoft.com/office/drawing/2014/main" id="{ABA3731D-4B6D-4C0E-BF5A-0A730F505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609975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596579"/>
                </a:solidFill>
              </a:defRPr>
            </a:pPr>
            <a:r>
              <a:rPr sz="1200">
                <a:solidFill>
                  <a:srgbClr val="596579"/>
                </a:solidFill>
              </a:rPr>
              <a:t>Exact four legs and $4.76 limit</a:t>
            </a:r>
          </a:p>
        </p:txBody>
      </p:sp>
      <p:sp>
        <p:nvSpPr>
          <p:cNvPr id="26" name="evidence-dot-4">
            <a:extLst xmlns:a="http://schemas.openxmlformats.org/drawingml/2006/main">
              <a:ext uri="{FF2B5EF4-FFF2-40B4-BE49-F238E27FC236}">
                <a16:creationId xmlns:a16="http://schemas.microsoft.com/office/drawing/2014/main" id="{14276A34-EFEA-4325-AC0A-E4D3B1DD6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767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DFF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27" name="evidence-n-4">
            <a:extLst xmlns:a="http://schemas.openxmlformats.org/drawingml/2006/main">
              <a:ext uri="{FF2B5EF4-FFF2-40B4-BE49-F238E27FC236}">
                <a16:creationId xmlns:a16="http://schemas.microsoft.com/office/drawing/2014/main" id="{A03D4C1A-B21E-4C7E-8F3D-FE572A9EA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43375"/>
            <a:ext cx="152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4</a:t>
            </a:r>
          </a:p>
        </p:txBody>
      </p:sp>
      <p:sp>
        <p:nvSpPr>
          <p:cNvPr id="28" name="evidence-label-4">
            <a:extLst xmlns:a="http://schemas.openxmlformats.org/drawingml/2006/main">
              <a:ext uri="{FF2B5EF4-FFF2-40B4-BE49-F238E27FC236}">
                <a16:creationId xmlns:a16="http://schemas.microsoft.com/office/drawing/2014/main" id="{DBC4F3D6-3F29-4FDD-B642-1DF492522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0576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Paper fill + reconciliation</a:t>
            </a:r>
          </a:p>
        </p:txBody>
      </p:sp>
      <p:sp>
        <p:nvSpPr>
          <p:cNvPr id="29" name="evidence-detail-4">
            <a:extLst xmlns:a="http://schemas.openxmlformats.org/drawingml/2006/main">
              <a:ext uri="{FF2B5EF4-FFF2-40B4-BE49-F238E27FC236}">
                <a16:creationId xmlns:a16="http://schemas.microsoft.com/office/drawing/2014/main" id="{DB318EDA-F6C6-468D-BC7E-9C582A64D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352925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596579"/>
                </a:solidFill>
              </a:defRPr>
            </a:pPr>
            <a:r>
              <a:rPr sz="1200">
                <a:solidFill>
                  <a:srgbClr val="596579"/>
                </a:solidFill>
              </a:rPr>
              <a:t>$4.55 fill · all four legs matched</a:t>
            </a:r>
          </a:p>
        </p:txBody>
      </p:sp>
      <p:sp>
        <p:nvSpPr>
          <p:cNvPr id="30" name="evidence-dot-5">
            <a:extLst xmlns:a="http://schemas.openxmlformats.org/drawingml/2006/main">
              <a:ext uri="{FF2B5EF4-FFF2-40B4-BE49-F238E27FC236}">
                <a16:creationId xmlns:a16="http://schemas.microsoft.com/office/drawing/2014/main" id="{4F6382FA-59F6-41C7-B7FD-98AC075B5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196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6EC"/>
          </a:solidFill>
          <a:ln xmlns:a="http://schemas.openxmlformats.org/drawingml/2006/main" w="19050">
            <a:solidFill>
              <a:srgbClr val="19A974"/>
            </a:solidFill>
            <a:prstDash val="solid"/>
          </a:ln>
        </p:spPr>
      </p:sp>
      <p:sp>
        <p:nvSpPr>
          <p:cNvPr id="31" name="evidence-n-5">
            <a:extLst xmlns:a="http://schemas.openxmlformats.org/drawingml/2006/main">
              <a:ext uri="{FF2B5EF4-FFF2-40B4-BE49-F238E27FC236}">
                <a16:creationId xmlns:a16="http://schemas.microsoft.com/office/drawing/2014/main" id="{F3F94AC9-073B-42C0-888E-3C95DA7C3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886325"/>
            <a:ext cx="152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9A974"/>
                </a:solidFill>
              </a:defRPr>
            </a:pPr>
            <a:r>
              <a:rPr sz="1050" b="1">
                <a:solidFill>
                  <a:srgbClr val="19A974"/>
                </a:solidFill>
              </a:rPr>
              <a:t>5</a:t>
            </a:r>
          </a:p>
        </p:txBody>
      </p:sp>
      <p:sp>
        <p:nvSpPr>
          <p:cNvPr id="32" name="evidence-label-5">
            <a:extLst xmlns:a="http://schemas.openxmlformats.org/drawingml/2006/main">
              <a:ext uri="{FF2B5EF4-FFF2-40B4-BE49-F238E27FC236}">
                <a16:creationId xmlns:a16="http://schemas.microsoft.com/office/drawing/2014/main" id="{64A5F6A0-2EDA-4662-97F0-497263C78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8006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Evidence changed policy</a:t>
            </a:r>
          </a:p>
        </p:txBody>
      </p:sp>
      <p:sp>
        <p:nvSpPr>
          <p:cNvPr id="33" name="evidence-detail-5">
            <a:extLst xmlns:a="http://schemas.openxmlformats.org/drawingml/2006/main">
              <a:ext uri="{FF2B5EF4-FFF2-40B4-BE49-F238E27FC236}">
                <a16:creationId xmlns:a16="http://schemas.microsoft.com/office/drawing/2014/main" id="{31F39189-FCD6-4F10-8C01-32AFE7272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095875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596579"/>
                </a:solidFill>
              </a:defRPr>
            </a:pPr>
            <a:r>
              <a:rPr sz="1200">
                <a:solidFill>
                  <a:srgbClr val="596579"/>
                </a:solidFill>
              </a:rPr>
              <a:t>New 0.25x payoff-quality gate</a:t>
            </a:r>
          </a:p>
        </p:txBody>
      </p:sp>
    </p:spTree>
    <p:extLst>
      <p:ext uri="{BB962C8B-B14F-4D97-AF65-F5344CB8AC3E}">
        <p14:creationId xmlns:p14="http://schemas.microsoft.com/office/powerpoint/2010/main" val="9638972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slide-5-eyebrow">
            <a:extLst xmlns:a="http://schemas.openxmlformats.org/drawingml/2006/main">
              <a:ext uri="{FF2B5EF4-FFF2-40B4-BE49-F238E27FC236}">
                <a16:creationId xmlns:a16="http://schemas.microsoft.com/office/drawing/2014/main" id="{3D496E33-4DF5-4EF8-90FB-821F9860C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542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VOLGUARD AI  /  ALPACA PAPER OPTIONS</a:t>
            </a:r>
          </a:p>
        </p:txBody>
      </p:sp>
      <p:sp>
        <p:nvSpPr>
          <p:cNvPr id="2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21AA48B2-9B5E-4A22-A266-A19297E62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125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0B1220"/>
                </a:solidFill>
              </a:defRPr>
            </a:pPr>
            <a:r>
              <a:rPr sz="3150" b="1">
                <a:solidFill>
                  <a:srgbClr val="0B1220"/>
                </a:solidFill>
              </a:rPr>
              <a:t>Automation never broadens trading authority</a:t>
            </a:r>
          </a:p>
        </p:txBody>
      </p:sp>
      <p:sp>
        <p:nvSpPr>
          <p:cNvPr id="3" name="slide-5-rule">
            <a:extLst xmlns:a="http://schemas.openxmlformats.org/drawingml/2006/main">
              <a:ext uri="{FF2B5EF4-FFF2-40B4-BE49-F238E27FC236}">
                <a16:creationId xmlns:a16="http://schemas.microsoft.com/office/drawing/2014/main" id="{FE25E55A-E72B-4836-B235-012E43359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4" name="slide-5-number">
            <a:extLst xmlns:a="http://schemas.openxmlformats.org/drawingml/2006/main">
              <a:ext uri="{FF2B5EF4-FFF2-40B4-BE49-F238E27FC236}">
                <a16:creationId xmlns:a16="http://schemas.microsoft.com/office/drawing/2014/main" id="{34B52682-7EE4-485C-8DA4-95948C7D3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>
                <a:solidFill>
                  <a:srgbClr val="596579"/>
                </a:solidFill>
              </a:defRPr>
            </a:pPr>
            <a:r>
              <a:rPr sz="900">
                <a:solidFill>
                  <a:srgbClr val="596579"/>
                </a:solidFill>
              </a:rPr>
              <a:t>05</a:t>
            </a:r>
          </a:p>
        </p:txBody>
      </p:sp>
      <p:sp>
        <p:nvSpPr>
          <p:cNvPr id="5" name="arch-arrow-1">
            <a:extLst xmlns:a="http://schemas.openxmlformats.org/drawingml/2006/main">
              <a:ext uri="{FF2B5EF4-FFF2-40B4-BE49-F238E27FC236}">
                <a16:creationId xmlns:a16="http://schemas.microsoft.com/office/drawing/2014/main" id="{847A1C7F-4F4F-48F8-8308-50B84FD0E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781300"/>
            <a:ext cx="5905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DFF"/>
          </a:solidFill>
          <a:ln xmlns:a="http://schemas.openxmlformats.org/drawingml/2006/main" w="0">
            <a:solidFill>
              <a:srgbClr val="D9EDFF"/>
            </a:solidFill>
            <a:prstDash val="solid"/>
          </a:ln>
        </p:spPr>
      </p:sp>
      <p:sp>
        <p:nvSpPr>
          <p:cNvPr id="6" name="arch-arrow-2">
            <a:extLst xmlns:a="http://schemas.openxmlformats.org/drawingml/2006/main">
              <a:ext uri="{FF2B5EF4-FFF2-40B4-BE49-F238E27FC236}">
                <a16:creationId xmlns:a16="http://schemas.microsoft.com/office/drawing/2014/main" id="{4C33F737-1399-408F-B82F-091CF4EF8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781300"/>
            <a:ext cx="5905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DFF"/>
          </a:solidFill>
          <a:ln xmlns:a="http://schemas.openxmlformats.org/drawingml/2006/main" w="0">
            <a:solidFill>
              <a:srgbClr val="D9EDFF"/>
            </a:solidFill>
            <a:prstDash val="solid"/>
          </a:ln>
        </p:spPr>
      </p:sp>
      <p:sp>
        <p:nvSpPr>
          <p:cNvPr id="7" name="arch-arrow-3">
            <a:extLst xmlns:a="http://schemas.openxmlformats.org/drawingml/2006/main">
              <a:ext uri="{FF2B5EF4-FFF2-40B4-BE49-F238E27FC236}">
                <a16:creationId xmlns:a16="http://schemas.microsoft.com/office/drawing/2014/main" id="{84AA2638-BBE6-4DCE-B1FA-910C6B8BF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781300"/>
            <a:ext cx="5905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DFF"/>
          </a:solidFill>
          <a:ln xmlns:a="http://schemas.openxmlformats.org/drawingml/2006/main" w="0">
            <a:solidFill>
              <a:srgbClr val="D9EDFF"/>
            </a:solidFill>
            <a:prstDash val="solid"/>
          </a:ln>
        </p:spPr>
      </p:sp>
      <p:sp>
        <p:nvSpPr>
          <p:cNvPr id="8" name="arch-node-1">
            <a:extLst xmlns:a="http://schemas.openxmlformats.org/drawingml/2006/main">
              <a:ext uri="{FF2B5EF4-FFF2-40B4-BE49-F238E27FC236}">
                <a16:creationId xmlns:a16="http://schemas.microsoft.com/office/drawing/2014/main" id="{360F82E7-3019-4AAC-95DD-7F59655D8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14550"/>
            <a:ext cx="2038350" cy="1733550"/>
          </a:xfrm>
          <a:prstGeom xmlns:a="http://schemas.openxmlformats.org/drawingml/2006/main" prst="roundRect">
            <a:avLst>
              <a:gd name="adj" fmla="val 6593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9" name="arch-tag-1">
            <a:extLst xmlns:a="http://schemas.openxmlformats.org/drawingml/2006/main">
              <a:ext uri="{FF2B5EF4-FFF2-40B4-BE49-F238E27FC236}">
                <a16:creationId xmlns:a16="http://schemas.microsoft.com/office/drawing/2014/main" id="{DD57952B-705D-424A-B5BC-8F6AB3EA5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24100"/>
            <a:ext cx="165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ALPACA</a:t>
            </a:r>
          </a:p>
        </p:txBody>
      </p:sp>
      <p:sp>
        <p:nvSpPr>
          <p:cNvPr id="10" name="arch-label-1">
            <a:extLst xmlns:a="http://schemas.openxmlformats.org/drawingml/2006/main">
              <a:ext uri="{FF2B5EF4-FFF2-40B4-BE49-F238E27FC236}">
                <a16:creationId xmlns:a16="http://schemas.microsoft.com/office/drawing/2014/main" id="{A4E742A2-9848-453B-974C-71CEFCDEC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24150"/>
            <a:ext cx="1657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Paper account</a:t>
            </a:r>
          </a:p>
        </p:txBody>
      </p:sp>
      <p:sp>
        <p:nvSpPr>
          <p:cNvPr id="11" name="arch-detail-1">
            <a:extLst xmlns:a="http://schemas.openxmlformats.org/drawingml/2006/main">
              <a:ext uri="{FF2B5EF4-FFF2-40B4-BE49-F238E27FC236}">
                <a16:creationId xmlns:a16="http://schemas.microsoft.com/office/drawing/2014/main" id="{E17A7780-B6B4-4BFF-A9D2-F2A1602F5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1657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596579"/>
                </a:solidFill>
              </a:defRPr>
            </a:pPr>
            <a:r>
              <a:rPr sz="1200">
                <a:solidFill>
                  <a:srgbClr val="596579"/>
                </a:solidFill>
              </a:rPr>
              <a:t>Trading + market data</a:t>
            </a:r>
          </a:p>
        </p:txBody>
      </p:sp>
      <p:sp>
        <p:nvSpPr>
          <p:cNvPr id="12" name="arch-node-2">
            <a:extLst xmlns:a="http://schemas.openxmlformats.org/drawingml/2006/main">
              <a:ext uri="{FF2B5EF4-FFF2-40B4-BE49-F238E27FC236}">
                <a16:creationId xmlns:a16="http://schemas.microsoft.com/office/drawing/2014/main" id="{2619AC4F-F821-4C94-9DF1-AA7A78C06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114550"/>
            <a:ext cx="2038350" cy="1733550"/>
          </a:xfrm>
          <a:prstGeom xmlns:a="http://schemas.openxmlformats.org/drawingml/2006/main" prst="roundRect">
            <a:avLst>
              <a:gd name="adj" fmla="val 6593"/>
            </a:avLst>
          </a:prstGeom>
          <a:solidFill xmlns:a="http://schemas.openxmlformats.org/drawingml/2006/main">
            <a:srgbClr val="D9E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3" name="arch-tag-2">
            <a:extLst xmlns:a="http://schemas.openxmlformats.org/drawingml/2006/main">
              <a:ext uri="{FF2B5EF4-FFF2-40B4-BE49-F238E27FC236}">
                <a16:creationId xmlns:a16="http://schemas.microsoft.com/office/drawing/2014/main" id="{A9370445-3F71-4CB1-B1B3-55F607710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324100"/>
            <a:ext cx="165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RUNNER</a:t>
            </a:r>
          </a:p>
        </p:txBody>
      </p:sp>
      <p:sp>
        <p:nvSpPr>
          <p:cNvPr id="14" name="arch-label-2">
            <a:extLst xmlns:a="http://schemas.openxmlformats.org/drawingml/2006/main">
              <a:ext uri="{FF2B5EF4-FFF2-40B4-BE49-F238E27FC236}">
                <a16:creationId xmlns:a16="http://schemas.microsoft.com/office/drawing/2014/main" id="{85D9ACE0-B751-4079-82F9-B4723FAFC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724150"/>
            <a:ext cx="1657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CLI boundary</a:t>
            </a:r>
          </a:p>
        </p:txBody>
      </p:sp>
      <p:sp>
        <p:nvSpPr>
          <p:cNvPr id="15" name="arch-detail-2">
            <a:extLst xmlns:a="http://schemas.openxmlformats.org/drawingml/2006/main">
              <a:ext uri="{FF2B5EF4-FFF2-40B4-BE49-F238E27FC236}">
                <a16:creationId xmlns:a16="http://schemas.microsoft.com/office/drawing/2014/main" id="{4FCD1FF8-1E7E-444B-8A3C-53FD3B40A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219450"/>
            <a:ext cx="1657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596579"/>
                </a:solidFill>
              </a:defRPr>
            </a:pPr>
            <a:r>
              <a:rPr sz="1200">
                <a:solidFill>
                  <a:srgbClr val="596579"/>
                </a:solidFill>
              </a:rPr>
              <a:t>Credentials stay local</a:t>
            </a:r>
          </a:p>
        </p:txBody>
      </p:sp>
      <p:sp>
        <p:nvSpPr>
          <p:cNvPr id="16" name="arch-node-3">
            <a:extLst xmlns:a="http://schemas.openxmlformats.org/drawingml/2006/main">
              <a:ext uri="{FF2B5EF4-FFF2-40B4-BE49-F238E27FC236}">
                <a16:creationId xmlns:a16="http://schemas.microsoft.com/office/drawing/2014/main" id="{663D528A-39F1-4698-81E6-64FA1F92C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114550"/>
            <a:ext cx="2038350" cy="1733550"/>
          </a:xfrm>
          <a:prstGeom xmlns:a="http://schemas.openxmlformats.org/drawingml/2006/main" prst="roundRect">
            <a:avLst>
              <a:gd name="adj" fmla="val 6593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17" name="arch-tag-3">
            <a:extLst xmlns:a="http://schemas.openxmlformats.org/drawingml/2006/main">
              <a:ext uri="{FF2B5EF4-FFF2-40B4-BE49-F238E27FC236}">
                <a16:creationId xmlns:a16="http://schemas.microsoft.com/office/drawing/2014/main" id="{F0C2D0A7-F35D-434F-841E-4EB4F1965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324100"/>
            <a:ext cx="165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EVIDENCE</a:t>
            </a:r>
          </a:p>
        </p:txBody>
      </p:sp>
      <p:sp>
        <p:nvSpPr>
          <p:cNvPr id="18" name="arch-label-3">
            <a:extLst xmlns:a="http://schemas.openxmlformats.org/drawingml/2006/main">
              <a:ext uri="{FF2B5EF4-FFF2-40B4-BE49-F238E27FC236}">
                <a16:creationId xmlns:a16="http://schemas.microsoft.com/office/drawing/2014/main" id="{F66EB851-7FEC-45E4-B112-AD160A3F3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724150"/>
            <a:ext cx="1657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Cloudflare D1</a:t>
            </a:r>
          </a:p>
        </p:txBody>
      </p:sp>
      <p:sp>
        <p:nvSpPr>
          <p:cNvPr id="19" name="arch-detail-3">
            <a:extLst xmlns:a="http://schemas.openxmlformats.org/drawingml/2006/main">
              <a:ext uri="{FF2B5EF4-FFF2-40B4-BE49-F238E27FC236}">
                <a16:creationId xmlns:a16="http://schemas.microsoft.com/office/drawing/2014/main" id="{CB55C559-A22F-4FC8-AF78-F4C958019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219450"/>
            <a:ext cx="1657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596579"/>
                </a:solidFill>
              </a:defRPr>
            </a:pPr>
            <a:r>
              <a:rPr sz="1200">
                <a:solidFill>
                  <a:srgbClr val="596579"/>
                </a:solidFill>
              </a:rPr>
              <a:t>Sanitized append-only data</a:t>
            </a:r>
          </a:p>
        </p:txBody>
      </p:sp>
      <p:sp>
        <p:nvSpPr>
          <p:cNvPr id="20" name="arch-node-4">
            <a:extLst xmlns:a="http://schemas.openxmlformats.org/drawingml/2006/main">
              <a:ext uri="{FF2B5EF4-FFF2-40B4-BE49-F238E27FC236}">
                <a16:creationId xmlns:a16="http://schemas.microsoft.com/office/drawing/2014/main" id="{31EFA980-AA73-4272-8B6E-9B560908A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14550"/>
            <a:ext cx="2038350" cy="1733550"/>
          </a:xfrm>
          <a:prstGeom xmlns:a="http://schemas.openxmlformats.org/drawingml/2006/main" prst="roundRect">
            <a:avLst>
              <a:gd name="adj" fmla="val 6593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9525">
            <a:solidFill>
              <a:srgbClr val="CBD3DF"/>
            </a:solidFill>
            <a:prstDash val="solid"/>
          </a:ln>
        </p:spPr>
      </p:sp>
      <p:sp>
        <p:nvSpPr>
          <p:cNvPr id="21" name="arch-tag-4">
            <a:extLst xmlns:a="http://schemas.openxmlformats.org/drawingml/2006/main">
              <a:ext uri="{FF2B5EF4-FFF2-40B4-BE49-F238E27FC236}">
                <a16:creationId xmlns:a16="http://schemas.microsoft.com/office/drawing/2014/main" id="{324E8922-F370-4F07-85DA-FC866A6A0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24100"/>
            <a:ext cx="165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PRODUCT</a:t>
            </a:r>
          </a:p>
        </p:txBody>
      </p:sp>
      <p:sp>
        <p:nvSpPr>
          <p:cNvPr id="22" name="arch-label-4">
            <a:extLst xmlns:a="http://schemas.openxmlformats.org/drawingml/2006/main">
              <a:ext uri="{FF2B5EF4-FFF2-40B4-BE49-F238E27FC236}">
                <a16:creationId xmlns:a16="http://schemas.microsoft.com/office/drawing/2014/main" id="{E1ABAD7B-70B3-4BF7-9AF2-96AE75CEE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724150"/>
            <a:ext cx="1657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VolGuard UI</a:t>
            </a:r>
          </a:p>
        </p:txBody>
      </p:sp>
      <p:sp>
        <p:nvSpPr>
          <p:cNvPr id="23" name="arch-detail-4">
            <a:extLst xmlns:a="http://schemas.openxmlformats.org/drawingml/2006/main">
              <a:ext uri="{FF2B5EF4-FFF2-40B4-BE49-F238E27FC236}">
                <a16:creationId xmlns:a16="http://schemas.microsoft.com/office/drawing/2014/main" id="{87F747F3-C76C-4711-A3CF-0F3707970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219450"/>
            <a:ext cx="1657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596579"/>
                </a:solidFill>
              </a:defRPr>
            </a:pPr>
            <a:r>
              <a:rPr sz="1200">
                <a:solidFill>
                  <a:srgbClr val="596579"/>
                </a:solidFill>
              </a:rPr>
              <a:t>Six responsive pages</a:t>
            </a:r>
          </a:p>
        </p:txBody>
      </p:sp>
      <p:sp>
        <p:nvSpPr>
          <p:cNvPr id="24" name="monitor-band">
            <a:extLst xmlns:a="http://schemas.openxmlformats.org/drawingml/2006/main">
              <a:ext uri="{FF2B5EF4-FFF2-40B4-BE49-F238E27FC236}">
                <a16:creationId xmlns:a16="http://schemas.microsoft.com/office/drawing/2014/main" id="{743C5865-5545-4C20-88E7-959877007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975360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DDF6EC"/>
          </a:solidFill>
          <a:ln xmlns:a="http://schemas.openxmlformats.org/drawingml/2006/main" w="9525">
            <a:solidFill>
              <a:srgbClr val="19A974"/>
            </a:solidFill>
            <a:prstDash val="solid"/>
          </a:ln>
        </p:spPr>
      </p:sp>
      <p:sp>
        <p:nvSpPr>
          <p:cNvPr id="25" name="monitor-title">
            <a:extLst xmlns:a="http://schemas.openxmlformats.org/drawingml/2006/main">
              <a:ext uri="{FF2B5EF4-FFF2-40B4-BE49-F238E27FC236}">
                <a16:creationId xmlns:a16="http://schemas.microsoft.com/office/drawing/2014/main" id="{755502E5-B34E-4526-9FD3-224EFA16D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244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9A974"/>
                </a:solidFill>
              </a:defRPr>
            </a:pPr>
            <a:r>
              <a:rPr sz="1800" b="1">
                <a:solidFill>
                  <a:srgbClr val="19A974"/>
                </a:solidFill>
              </a:rPr>
              <a:t>Cloudflare Worker  →  GitHub Actions  →  serialized paper cycle</a:t>
            </a:r>
          </a:p>
        </p:txBody>
      </p:sp>
      <p:sp>
        <p:nvSpPr>
          <p:cNvPr id="26" name="monitor-detail">
            <a:extLst xmlns:a="http://schemas.openxmlformats.org/drawingml/2006/main">
              <a:ext uri="{FF2B5EF4-FFF2-40B4-BE49-F238E27FC236}">
                <a16:creationId xmlns:a16="http://schemas.microsoft.com/office/drawing/2014/main" id="{026410B6-8848-4C6C-849C-B4A3F3FB6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19700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596579"/>
                </a:solidFill>
              </a:defRPr>
            </a:pPr>
            <a:r>
              <a:rPr sz="1275">
                <a:solidFill>
                  <a:srgbClr val="596579"/>
                </a:solidFill>
              </a:rPr>
              <a:t>Every 5 minutes: reconcile + monitor exits. Every 10 minutes: fresh scan + memory-confirmed entry attempt.</a:t>
            </a:r>
          </a:p>
        </p:txBody>
      </p:sp>
      <p:sp>
        <p:nvSpPr>
          <p:cNvPr id="27" name="monitor-lock">
            <a:extLst xmlns:a="http://schemas.openxmlformats.org/drawingml/2006/main">
              <a:ext uri="{FF2B5EF4-FFF2-40B4-BE49-F238E27FC236}">
                <a16:creationId xmlns:a16="http://schemas.microsoft.com/office/drawing/2014/main" id="{EEAA76DE-563C-4EB7-93EF-650B497A1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4572000"/>
            <a:ext cx="1123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C73E4D"/>
                </a:solidFill>
              </a:defRPr>
            </a:pPr>
            <a:r>
              <a:rPr sz="1200" b="1">
                <a:solidFill>
                  <a:srgbClr val="C73E4D"/>
                </a:solidFill>
              </a:rPr>
              <a:t>Separate entry and exit locks</a:t>
            </a:r>
          </a:p>
        </p:txBody>
      </p:sp>
    </p:spTree>
    <p:extLst>
      <p:ext uri="{BB962C8B-B14F-4D97-AF65-F5344CB8AC3E}">
        <p14:creationId xmlns:p14="http://schemas.microsoft.com/office/powerpoint/2010/main" val="23496326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lose-kicker">
            <a:extLst xmlns:a="http://schemas.openxmlformats.org/drawingml/2006/main">
              <a:ext uri="{FF2B5EF4-FFF2-40B4-BE49-F238E27FC236}">
                <a16:creationId xmlns:a16="http://schemas.microsoft.com/office/drawing/2014/main" id="{E634279B-AF0E-40DA-AFF9-C20484F4D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7FC3FF"/>
                </a:solidFill>
              </a:defRPr>
            </a:pPr>
            <a:r>
              <a:rPr sz="1200" b="1">
                <a:solidFill>
                  <a:srgbClr val="7FC3FF"/>
                </a:solidFill>
              </a:rPr>
              <a:t>VOLGUARD AI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22635F75-AF67-4937-9EEB-58AB6D05B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8858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4650" b="1">
                <a:solidFill>
                  <a:srgbClr val="FFFFFF"/>
                </a:solidFill>
              </a:defRPr>
            </a:pPr>
            <a:r>
              <a:rPr sz="4650" b="1">
                <a:solidFill>
                  <a:srgbClr val="FFFFFF"/>
                </a:solidFill>
              </a:rPr>
              <a:t>Autonomy you can audit.</a:t>
            </a:r>
          </a:p>
        </p:txBody>
      </p:sp>
      <p:sp>
        <p:nvSpPr>
          <p:cNvPr id="3" name="close-line-1">
            <a:extLst xmlns:a="http://schemas.openxmlformats.org/drawingml/2006/main">
              <a:ext uri="{FF2B5EF4-FFF2-40B4-BE49-F238E27FC236}">
                <a16:creationId xmlns:a16="http://schemas.microsoft.com/office/drawing/2014/main" id="{7F4F981B-4DBF-4530-8BBC-361082914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7185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Autonomous enough to act.</a:t>
            </a:r>
          </a:p>
        </p:txBody>
      </p:sp>
      <p:sp>
        <p:nvSpPr>
          <p:cNvPr id="4" name="close-line-2">
            <a:extLst xmlns:a="http://schemas.openxmlformats.org/drawingml/2006/main">
              <a:ext uri="{FF2B5EF4-FFF2-40B4-BE49-F238E27FC236}">
                <a16:creationId xmlns:a16="http://schemas.microsoft.com/office/drawing/2014/main" id="{5F4E9855-F783-40C4-9648-9CCB90B82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10025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Constrained enough to abstain.</a:t>
            </a:r>
          </a:p>
        </p:txBody>
      </p:sp>
      <p:sp>
        <p:nvSpPr>
          <p:cNvPr id="5" name="close-line-3">
            <a:extLst xmlns:a="http://schemas.openxmlformats.org/drawingml/2006/main">
              <a:ext uri="{FF2B5EF4-FFF2-40B4-BE49-F238E27FC236}">
                <a16:creationId xmlns:a16="http://schemas.microsoft.com/office/drawing/2014/main" id="{AE3D78CB-8C6F-4BBA-A38C-BC74412C2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482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7FC3FF"/>
                </a:solidFill>
              </a:defRPr>
            </a:pPr>
            <a:r>
              <a:rPr sz="2175" b="1">
                <a:solidFill>
                  <a:srgbClr val="7FC3FF"/>
                </a:solidFill>
              </a:rPr>
              <a:t>Transparent enough to improve.</a:t>
            </a:r>
          </a:p>
        </p:txBody>
      </p:sp>
      <p:sp>
        <p:nvSpPr>
          <p:cNvPr id="6" name="close-proof">
            <a:extLst xmlns:a="http://schemas.openxmlformats.org/drawingml/2006/main">
              <a:ext uri="{FF2B5EF4-FFF2-40B4-BE49-F238E27FC236}">
                <a16:creationId xmlns:a16="http://schemas.microsoft.com/office/drawing/2014/main" id="{21C9249D-B45C-4BA4-A61E-EB81D00C7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02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B8C4D6"/>
                </a:solidFill>
              </a:defRPr>
            </a:pPr>
            <a:r>
              <a:rPr sz="1350">
                <a:solidFill>
                  <a:srgbClr val="B8C4D6"/>
                </a:solidFill>
              </a:rPr>
              <a:t>Alpaca options  •  Paper execution  •  Risk governance  •  Lifecycle evidence</a:t>
            </a:r>
          </a:p>
        </p:txBody>
      </p:sp>
      <p:sp>
        <p:nvSpPr>
          <p:cNvPr id="7" name="close-mark">
            <a:extLst xmlns:a="http://schemas.openxmlformats.org/drawingml/2006/main">
              <a:ext uri="{FF2B5EF4-FFF2-40B4-BE49-F238E27FC236}">
                <a16:creationId xmlns:a16="http://schemas.microsoft.com/office/drawing/2014/main" id="{5D58E2A3-E7F4-4C18-A390-E53C457CB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809750"/>
            <a:ext cx="14859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8400" b="1">
                <a:solidFill>
                  <a:srgbClr val="3D8DFF"/>
                </a:solidFill>
              </a:defRPr>
            </a:pPr>
            <a:r>
              <a:rPr sz="8400" b="1">
                <a:solidFill>
                  <a:srgbClr val="3D8DFF"/>
                </a:solidFill>
              </a:rPr>
              <a:t>V</a:t>
            </a:r>
          </a:p>
        </p:txBody>
      </p:sp>
    </p:spTree>
    <p:extLst>
      <p:ext uri="{BB962C8B-B14F-4D97-AF65-F5344CB8AC3E}">
        <p14:creationId xmlns:p14="http://schemas.microsoft.com/office/powerpoint/2010/main" val="3130801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2026-09-03T18:06:07.1350000Z</dcterms:created>
  <dcterms:modified xsi:type="dcterms:W3CDTF">2026-09-03T18:06:07.1350000Z</dcterms:modified>
</coreProperties>
</file>